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4" r:id="rId8"/>
    <p:sldId id="263" r:id="rId9"/>
    <p:sldId id="265" r:id="rId10"/>
    <p:sldId id="266" r:id="rId11"/>
    <p:sldId id="267" r:id="rId12"/>
    <p:sldId id="268" r:id="rId13"/>
    <p:sldId id="269" r:id="rId14"/>
    <p:sldId id="270" r:id="rId15"/>
    <p:sldId id="271" r:id="rId16"/>
    <p:sldId id="272" r:id="rId17"/>
    <p:sldId id="273" r:id="rId18"/>
    <p:sldId id="274" r:id="rId19"/>
    <p:sldId id="276" r:id="rId20"/>
    <p:sldId id="275" r:id="rId21"/>
    <p:sldId id="283" r:id="rId22"/>
    <p:sldId id="284" r:id="rId23"/>
    <p:sldId id="278" r:id="rId24"/>
    <p:sldId id="279" r:id="rId25"/>
    <p:sldId id="280" r:id="rId26"/>
    <p:sldId id="282"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36" autoAdjust="0"/>
    <p:restoredTop sz="94660"/>
  </p:normalViewPr>
  <p:slideViewPr>
    <p:cSldViewPr snapToGrid="0">
      <p:cViewPr varScale="1">
        <p:scale>
          <a:sx n="150" d="100"/>
          <a:sy n="150" d="100"/>
        </p:scale>
        <p:origin x="144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D7C7-0607-8CFE-0869-1300328851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92C98F-7EC6-AFA5-A829-359489772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E4BBD1-E8B6-EC4D-3D6F-D03624514995}"/>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FB174ABA-30FB-ADA8-90F5-BA142A4F0E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F1FA7-731F-9CFB-AF88-2F381267638D}"/>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65971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2970-DA3F-0A64-C8FA-847D989AD4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0FAA04-CF56-09A1-B7B5-B74FB97F2C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D3E0D7-1FC4-C83D-A608-05A7B88568B7}"/>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20CC9980-BC04-D455-71E3-9E9C74872E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CF5883-48C9-3891-C8FE-9627A00F303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767227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9BE9-7968-6155-68A6-D7593D397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17B3F6-FD27-604E-6E9F-69C9B7ED83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11E9B4-787D-34E3-6990-B63EC69AC1BE}"/>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8BA36B5A-AD35-E8CB-9EF3-3E0BD03A94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F17CCF-9F7C-37DB-8997-CCA8C2E929C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313859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3418-4398-3A76-F298-23C9691F67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3F3862-DEF5-9473-2451-5362893C46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45B0AF-C60E-70AB-00F9-D14A0F1A25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2F9445-3E3F-63DE-B4F5-B3C4D09B79CD}"/>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6" name="Footer Placeholder 5">
            <a:extLst>
              <a:ext uri="{FF2B5EF4-FFF2-40B4-BE49-F238E27FC236}">
                <a16:creationId xmlns:a16="http://schemas.microsoft.com/office/drawing/2014/main" id="{C80BE969-FEF6-A719-88C3-3BC460ECEF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1B7545-96C1-9E44-D31F-59ABAFABB059}"/>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36420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75C5B-63A9-7EF7-DD93-19DD78C428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73F385-D3A3-0BD5-FDBF-0C16F0D0F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0D75A4-60E6-081E-B055-9334223814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3AE84E-D3A6-9D04-5F15-916DD4A59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5AD203-C09C-E207-F48E-33C60EBFA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68CDCF-723B-249B-0B02-996A2C94CA88}"/>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8" name="Footer Placeholder 7">
            <a:extLst>
              <a:ext uri="{FF2B5EF4-FFF2-40B4-BE49-F238E27FC236}">
                <a16:creationId xmlns:a16="http://schemas.microsoft.com/office/drawing/2014/main" id="{7646E3F1-B35F-9C01-3C98-64F7FF5659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685A4F-C0E5-DDFE-AF8A-54A302BB9A0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24294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C778-C0AC-A0D1-5042-B2B7E6F84F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E24951-B513-DF7B-5017-6099818A6261}"/>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4" name="Footer Placeholder 3">
            <a:extLst>
              <a:ext uri="{FF2B5EF4-FFF2-40B4-BE49-F238E27FC236}">
                <a16:creationId xmlns:a16="http://schemas.microsoft.com/office/drawing/2014/main" id="{A5FBB5E9-3763-AFA7-A8BF-743813DDA9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5A2635-8BD0-070F-6760-1371D636484A}"/>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687162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DA1AA-FBA2-2BD4-8595-8316BB4DD0D5}"/>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3" name="Footer Placeholder 2">
            <a:extLst>
              <a:ext uri="{FF2B5EF4-FFF2-40B4-BE49-F238E27FC236}">
                <a16:creationId xmlns:a16="http://schemas.microsoft.com/office/drawing/2014/main" id="{100E19A0-B224-C8A3-ABC6-2FCC36C2CE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755E83-ED99-1DD5-CAC8-D5E0155C2170}"/>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412181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085A-F47C-E3CE-3866-727AD9A3A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49663B-2930-2541-1ED4-BA03B9445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297978-E86B-1893-A665-B7C9CE711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A5E9E-2BDB-55E3-4FCD-A78C4A8F0D8C}"/>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6" name="Footer Placeholder 5">
            <a:extLst>
              <a:ext uri="{FF2B5EF4-FFF2-40B4-BE49-F238E27FC236}">
                <a16:creationId xmlns:a16="http://schemas.microsoft.com/office/drawing/2014/main" id="{59CAFFEB-6136-20AD-3ABA-3CB4839A73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147368-B4DE-E069-E70A-DCDF870F91C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33686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91E0-1D86-03A6-B09A-16212F7BD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7CE1B-7372-573F-4825-112486C63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27B408-84C1-4B3B-6C18-C75AB6205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EF491-DADC-3ED7-7C6A-FC58ED205E11}"/>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6" name="Footer Placeholder 5">
            <a:extLst>
              <a:ext uri="{FF2B5EF4-FFF2-40B4-BE49-F238E27FC236}">
                <a16:creationId xmlns:a16="http://schemas.microsoft.com/office/drawing/2014/main" id="{DAB15962-2C8C-6DB1-10EC-8FB270D17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84986-E9A2-C766-172E-FADABD24A583}"/>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083875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7D50C-A74A-4B31-E511-F747A78663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23529D-0359-0835-6C1A-A865EE8892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703C0D-3EC3-9172-414D-4CCBD4C25F4B}"/>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D83FE70E-0CAB-D21E-065B-040AED463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11704-8085-3B48-4062-CED493304AFC}"/>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101025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8B6E4C-B477-4E07-CB61-C5CEF5669D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42C7A5-8AD9-66FB-1395-B7AED19744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7EDF4B-17A3-0503-4D1C-142BD5C72801}"/>
              </a:ext>
            </a:extLst>
          </p:cNvPr>
          <p:cNvSpPr>
            <a:spLocks noGrp="1"/>
          </p:cNvSpPr>
          <p:nvPr>
            <p:ph type="dt" sz="half" idx="10"/>
          </p:nvPr>
        </p:nvSpPr>
        <p:spPr/>
        <p:txBody>
          <a:body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7B2E50A8-B5EE-A27C-5442-C9A82F4B73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F2EAA-A657-CE8E-7BA2-D436C9937DE5}"/>
              </a:ext>
            </a:extLst>
          </p:cNvPr>
          <p:cNvSpPr>
            <a:spLocks noGrp="1"/>
          </p:cNvSpPr>
          <p:nvPr>
            <p:ph type="sldNum" sz="quarter" idx="12"/>
          </p:nvPr>
        </p:nvSpPr>
        <p:spPr/>
        <p:txBody>
          <a:bodyPr/>
          <a:lstStyle/>
          <a:p>
            <a:fld id="{F3644AC4-20B3-441D-9D7F-97A0FBE4873C}" type="slidenum">
              <a:rPr lang="en-IN" smtClean="0"/>
              <a:t>‹#›</a:t>
            </a:fld>
            <a:endParaRPr lang="en-IN"/>
          </a:p>
        </p:txBody>
      </p:sp>
    </p:spTree>
    <p:extLst>
      <p:ext uri="{BB962C8B-B14F-4D97-AF65-F5344CB8AC3E}">
        <p14:creationId xmlns:p14="http://schemas.microsoft.com/office/powerpoint/2010/main" val="2971217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E5D3BD-35E2-8EA4-7E72-08F5675365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0A947D-CC1C-54A6-D4A8-AE909766FB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60378B-B9F4-A052-62D1-8B1421E28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53B16-290D-4C7B-B520-7082D074CA9C}" type="datetimeFigureOut">
              <a:rPr lang="en-IN" smtClean="0"/>
              <a:t>05-03-2026</a:t>
            </a:fld>
            <a:endParaRPr lang="en-IN"/>
          </a:p>
        </p:txBody>
      </p:sp>
      <p:sp>
        <p:nvSpPr>
          <p:cNvPr id="5" name="Footer Placeholder 4">
            <a:extLst>
              <a:ext uri="{FF2B5EF4-FFF2-40B4-BE49-F238E27FC236}">
                <a16:creationId xmlns:a16="http://schemas.microsoft.com/office/drawing/2014/main" id="{4B5DDAA3-465C-F269-0AFA-089C80646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526540-784A-63BE-F374-7B072DFBE7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644AC4-20B3-441D-9D7F-97A0FBE4873C}" type="slidenum">
              <a:rPr lang="en-IN" smtClean="0"/>
              <a:t>‹#›</a:t>
            </a:fld>
            <a:endParaRPr lang="en-IN"/>
          </a:p>
        </p:txBody>
      </p:sp>
    </p:spTree>
    <p:extLst>
      <p:ext uri="{BB962C8B-B14F-4D97-AF65-F5344CB8AC3E}">
        <p14:creationId xmlns:p14="http://schemas.microsoft.com/office/powerpoint/2010/main" val="1726994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D183-5E57-87B5-38F6-108A694771E9}"/>
              </a:ext>
            </a:extLst>
          </p:cNvPr>
          <p:cNvSpPr>
            <a:spLocks noGrp="1"/>
          </p:cNvSpPr>
          <p:nvPr>
            <p:ph type="ctrTitle"/>
          </p:nvPr>
        </p:nvSpPr>
        <p:spPr>
          <a:xfrm>
            <a:off x="1524000" y="1041400"/>
            <a:ext cx="9144000" cy="2387600"/>
          </a:xfrm>
        </p:spPr>
        <p:txBody>
          <a:bodyPr>
            <a:normAutofit/>
          </a:bodyPr>
          <a:lstStyle/>
          <a:p>
            <a:r>
              <a:rPr lang="en-IN" sz="4800" b="1" dirty="0">
                <a:latin typeface="Times New Roman" panose="02020603050405020304" pitchFamily="18" charset="0"/>
                <a:cs typeface="Times New Roman" panose="02020603050405020304" pitchFamily="18" charset="0"/>
              </a:rPr>
              <a:t>Heart Disease</a:t>
            </a: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using </a:t>
            </a: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ML Models </a:t>
            </a:r>
          </a:p>
        </p:txBody>
      </p:sp>
      <p:sp>
        <p:nvSpPr>
          <p:cNvPr id="3" name="Subtitle 2">
            <a:extLst>
              <a:ext uri="{FF2B5EF4-FFF2-40B4-BE49-F238E27FC236}">
                <a16:creationId xmlns:a16="http://schemas.microsoft.com/office/drawing/2014/main" id="{005814DC-F2D3-48ED-4F50-0DAEF019E59D}"/>
              </a:ext>
            </a:extLst>
          </p:cNvPr>
          <p:cNvSpPr>
            <a:spLocks noGrp="1"/>
          </p:cNvSpPr>
          <p:nvPr>
            <p:ph type="subTitle" idx="1"/>
          </p:nvPr>
        </p:nvSpPr>
        <p:spPr>
          <a:xfrm>
            <a:off x="1524000" y="4017675"/>
            <a:ext cx="9144000" cy="1655762"/>
          </a:xfrm>
        </p:spPr>
        <p:txBody>
          <a:bodyPr/>
          <a:lstStyle/>
          <a:p>
            <a:r>
              <a:rPr lang="en-IN" dirty="0">
                <a:latin typeface="Times New Roman" panose="02020603050405020304" pitchFamily="18" charset="0"/>
                <a:cs typeface="Times New Roman" panose="02020603050405020304" pitchFamily="18" charset="0"/>
              </a:rPr>
              <a:t>Suniksha Gupta </a:t>
            </a:r>
          </a:p>
          <a:p>
            <a:r>
              <a:rPr lang="en-IN" dirty="0">
                <a:latin typeface="Times New Roman" panose="02020603050405020304" pitchFamily="18" charset="0"/>
                <a:cs typeface="Times New Roman" panose="02020603050405020304" pitchFamily="18" charset="0"/>
              </a:rPr>
              <a:t>Data Science Capstone Project </a:t>
            </a:r>
          </a:p>
        </p:txBody>
      </p:sp>
    </p:spTree>
    <p:extLst>
      <p:ext uri="{BB962C8B-B14F-4D97-AF65-F5344CB8AC3E}">
        <p14:creationId xmlns:p14="http://schemas.microsoft.com/office/powerpoint/2010/main" val="2604081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33B5E-93F3-620D-E4CB-EB1929ACF38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CC4CFCA0-57C2-48F5-2D99-65BAAC52267E}"/>
              </a:ext>
            </a:extLst>
          </p:cNvPr>
          <p:cNvSpPr>
            <a:spLocks noGrp="1"/>
          </p:cNvSpPr>
          <p:nvPr>
            <p:ph idx="1"/>
          </p:nvPr>
        </p:nvSpPr>
        <p:spPr>
          <a:xfrm>
            <a:off x="737717" y="1690688"/>
            <a:ext cx="11159532" cy="4786190"/>
          </a:xfrm>
        </p:spPr>
        <p:txBody>
          <a:bodyPr>
            <a:normAutofit lnSpcReduction="10000"/>
          </a:bodyPr>
          <a:lstStyle/>
          <a:p>
            <a:r>
              <a:rPr lang="en-US" sz="2000" dirty="0">
                <a:latin typeface="Times" panose="02020603050405020304" pitchFamily="18" charset="0"/>
                <a:cs typeface="Times" panose="02020603050405020304" pitchFamily="18" charset="0"/>
              </a:rPr>
              <a:t>Heart disease is one of the leading causes of death worldwide, making early detection crucial for effective prevention and treatment. This project aims to develop a machine learning model to predict the likelihood of heart disease using patient health indicators such as age, blood pressure, cholesterol level, BMI, diabetes status, lifestyle habits, and other cardiovascular risk factors.</a:t>
            </a:r>
          </a:p>
          <a:p>
            <a:endParaRPr lang="en-US" sz="2000" dirty="0">
              <a:latin typeface="Times" panose="02020603050405020304" pitchFamily="18" charset="0"/>
              <a:cs typeface="Times" panose="02020603050405020304" pitchFamily="18" charset="0"/>
            </a:endParaRP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Exploratory Data Analysis (EDA) was conducted to understand patterns, detect missing values, and identify relationships between health variables and heart disease outcomes. Multiple machine learning algorithms were trained and evaluated using classification metrics such as accuracy, precision, recall, and F1-score.</a:t>
            </a:r>
          </a:p>
          <a:p>
            <a:endParaRPr lang="en-US" sz="2000" dirty="0">
              <a:latin typeface="Times" panose="02020603050405020304" pitchFamily="18" charset="0"/>
              <a:cs typeface="Times" panose="02020603050405020304" pitchFamily="18" charset="0"/>
            </a:endParaRP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The results demonstrate that machine learning models can successfully identify individuals at higher risk of heart disease by analyzing complex medical data. This approach highlights the potential of data-driven methods to support early diagnosis and improve decision-making in healthcare.</a:t>
            </a:r>
          </a:p>
        </p:txBody>
      </p:sp>
    </p:spTree>
    <p:extLst>
      <p:ext uri="{BB962C8B-B14F-4D97-AF65-F5344CB8AC3E}">
        <p14:creationId xmlns:p14="http://schemas.microsoft.com/office/powerpoint/2010/main" val="230351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064A5-318F-3397-A403-A83EEA5B5E03}"/>
              </a:ext>
            </a:extLst>
          </p:cNvPr>
          <p:cNvSpPr>
            <a:spLocks noGrp="1"/>
          </p:cNvSpPr>
          <p:nvPr>
            <p:ph type="title"/>
          </p:nvPr>
        </p:nvSpPr>
        <p:spPr>
          <a:xfrm>
            <a:off x="547255" y="365125"/>
            <a:ext cx="10515600" cy="1325563"/>
          </a:xfrm>
        </p:spPr>
        <p:txBody>
          <a:bodyPr/>
          <a:lstStyle/>
          <a:p>
            <a:r>
              <a:rPr lang="en-IN" b="1" dirty="0">
                <a:latin typeface="Times New Roman" panose="02020603050405020304" pitchFamily="18" charset="0"/>
                <a:cs typeface="Times New Roman" panose="02020603050405020304" pitchFamily="18" charset="0"/>
              </a:rPr>
              <a:t>Need for Project </a:t>
            </a:r>
          </a:p>
        </p:txBody>
      </p:sp>
      <p:sp>
        <p:nvSpPr>
          <p:cNvPr id="4" name="Rectangle 1">
            <a:extLst>
              <a:ext uri="{FF2B5EF4-FFF2-40B4-BE49-F238E27FC236}">
                <a16:creationId xmlns:a16="http://schemas.microsoft.com/office/drawing/2014/main" id="{71B52058-14A0-A492-C938-6786A941F51A}"/>
              </a:ext>
            </a:extLst>
          </p:cNvPr>
          <p:cNvSpPr>
            <a:spLocks noGrp="1" noChangeArrowheads="1"/>
          </p:cNvSpPr>
          <p:nvPr>
            <p:ph idx="1"/>
          </p:nvPr>
        </p:nvSpPr>
        <p:spPr bwMode="auto">
          <a:xfrm>
            <a:off x="327313" y="1496635"/>
            <a:ext cx="11537373" cy="499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panose="02020603050405020304" pitchFamily="18" charset="0"/>
                <a:cs typeface="Times" panose="02020603050405020304" pitchFamily="18" charset="0"/>
              </a:rPr>
              <a:t>Heart disease is one of the leading causes of death worldwide, making early risk detection extremely important.</a:t>
            </a: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Many health factors such as age, blood pressure, cholesterol, diabetes, stress, and lifestyle habits influence heart disease risk and are difficult to assess manually.</a:t>
            </a: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Predicting heart disease at an early stage can help individuals take preventive actions and adopt healthier lifestyles.</a:t>
            </a: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Machine learning can analyze large medical datasets and identify hidden patterns that may not be obvious through traditional analysis.</a:t>
            </a:r>
          </a:p>
          <a:p>
            <a:endParaRPr lang="en-US" sz="2000" dirty="0">
              <a:latin typeface="Times" panose="02020603050405020304" pitchFamily="18" charset="0"/>
              <a:cs typeface="Times" panose="02020603050405020304" pitchFamily="18" charset="0"/>
            </a:endParaRPr>
          </a:p>
          <a:p>
            <a:r>
              <a:rPr lang="en-US" sz="2000" dirty="0">
                <a:latin typeface="Times" panose="02020603050405020304" pitchFamily="18" charset="0"/>
                <a:cs typeface="Times" panose="02020603050405020304" pitchFamily="18" charset="0"/>
              </a:rPr>
              <a:t>A reliable prediction model can assist healthcare professionals in making faster and more accurate decisions for patient care and risk assessment.</a:t>
            </a:r>
          </a:p>
        </p:txBody>
      </p:sp>
    </p:spTree>
    <p:extLst>
      <p:ext uri="{BB962C8B-B14F-4D97-AF65-F5344CB8AC3E}">
        <p14:creationId xmlns:p14="http://schemas.microsoft.com/office/powerpoint/2010/main" val="322480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0E9F-1B69-F584-5CDF-3712F8FC7EA0}"/>
              </a:ext>
            </a:extLst>
          </p:cNvPr>
          <p:cNvSpPr>
            <a:spLocks noGrp="1"/>
          </p:cNvSpPr>
          <p:nvPr>
            <p:ph type="title"/>
          </p:nvPr>
        </p:nvSpPr>
        <p:spPr>
          <a:xfrm>
            <a:off x="327313" y="136526"/>
            <a:ext cx="10515600" cy="788266"/>
          </a:xfrm>
        </p:spPr>
        <p:txBody>
          <a:bodyPr/>
          <a:lstStyle/>
          <a:p>
            <a:r>
              <a:rPr lang="en-IN" b="1" dirty="0">
                <a:latin typeface="Times New Roman" panose="02020603050405020304" pitchFamily="18" charset="0"/>
                <a:cs typeface="Times New Roman" panose="02020603050405020304" pitchFamily="18" charset="0"/>
              </a:rPr>
              <a:t>Proposed System </a:t>
            </a:r>
          </a:p>
        </p:txBody>
      </p:sp>
      <p:sp>
        <p:nvSpPr>
          <p:cNvPr id="4" name="Rectangle 1">
            <a:extLst>
              <a:ext uri="{FF2B5EF4-FFF2-40B4-BE49-F238E27FC236}">
                <a16:creationId xmlns:a16="http://schemas.microsoft.com/office/drawing/2014/main" id="{9B90F8B2-9C90-6CDA-B69A-AC421BA0056A}"/>
              </a:ext>
            </a:extLst>
          </p:cNvPr>
          <p:cNvSpPr>
            <a:spLocks noGrp="1" noChangeArrowheads="1"/>
          </p:cNvSpPr>
          <p:nvPr>
            <p:ph idx="1"/>
          </p:nvPr>
        </p:nvSpPr>
        <p:spPr bwMode="auto">
          <a:xfrm>
            <a:off x="264816" y="1063291"/>
            <a:ext cx="1153737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Collect patient health data including features such as age, gender, blood pressure, cholesterol level, BMI, diabetes status, smoking habits, and lifestyle factors.</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Perform data cleaning by handling missing values, removing duplicates, and correcting inconsistent entries.</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Encode categorical variables (such as gender, exercise habits, and smoking status) into numerical format for model training.</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Conduct exploratory data analysis to understand feature distributions, correlations, and patterns related to heart disease.</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Apply feature engineering and scaling techniques to improve model performance.</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Split the dataset into training and testing sets for proper model evaluation.</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Train multiple classification models (Logistic Regression, Random Forest, KNN, etc.) and compare their performance.</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Select the best-performing model and tune hyperparameters to improve prediction accuracy.</a:t>
            </a:r>
          </a:p>
          <a:p>
            <a:pPr marL="0" lvl="0" indent="0" eaLnBrk="0" fontAlgn="base" hangingPunct="0">
              <a:lnSpc>
                <a:spcPct val="100000"/>
              </a:lnSpc>
              <a:spcBef>
                <a:spcPct val="0"/>
              </a:spcBef>
              <a:spcAft>
                <a:spcPct val="0"/>
              </a:spcAft>
              <a:buFontTx/>
              <a:buChar char="•"/>
            </a:pPr>
            <a:endParaRPr lang="en-US" altLang="en-US" sz="1800" dirty="0">
              <a:latin typeface="Times" panose="02020603050405020304" pitchFamily="18" charset="0"/>
              <a:cs typeface="Times"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panose="02020603050405020304" pitchFamily="18" charset="0"/>
                <a:cs typeface="Times" panose="02020603050405020304" pitchFamily="18" charset="0"/>
              </a:rPr>
              <a:t>Use the final model to predict the likelihood of heart disease and identify key risk factors.</a:t>
            </a:r>
          </a:p>
        </p:txBody>
      </p:sp>
    </p:spTree>
    <p:extLst>
      <p:ext uri="{BB962C8B-B14F-4D97-AF65-F5344CB8AC3E}">
        <p14:creationId xmlns:p14="http://schemas.microsoft.com/office/powerpoint/2010/main" val="248652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2498-AE9A-E8ED-9A4B-FCD97726140F}"/>
              </a:ext>
            </a:extLst>
          </p:cNvPr>
          <p:cNvSpPr>
            <a:spLocks noGrp="1"/>
          </p:cNvSpPr>
          <p:nvPr>
            <p:ph type="title"/>
          </p:nvPr>
        </p:nvSpPr>
        <p:spPr>
          <a:xfrm>
            <a:off x="0" y="0"/>
            <a:ext cx="10515600" cy="1096962"/>
          </a:xfrm>
        </p:spPr>
        <p:txBody>
          <a:bodyPr/>
          <a:lstStyle/>
          <a:p>
            <a:r>
              <a:rPr lang="en-IN" b="1" dirty="0">
                <a:latin typeface="Times New Roman" panose="02020603050405020304" pitchFamily="18" charset="0"/>
                <a:cs typeface="Times New Roman" panose="02020603050405020304" pitchFamily="18" charset="0"/>
              </a:rPr>
              <a:t>Snapshot of Data </a:t>
            </a:r>
          </a:p>
        </p:txBody>
      </p:sp>
      <p:sp>
        <p:nvSpPr>
          <p:cNvPr id="10" name="TextBox 9">
            <a:extLst>
              <a:ext uri="{FF2B5EF4-FFF2-40B4-BE49-F238E27FC236}">
                <a16:creationId xmlns:a16="http://schemas.microsoft.com/office/drawing/2014/main" id="{F974A3EA-5D73-95B8-D92B-36B8840C8E23}"/>
              </a:ext>
            </a:extLst>
          </p:cNvPr>
          <p:cNvSpPr txBox="1"/>
          <p:nvPr/>
        </p:nvSpPr>
        <p:spPr>
          <a:xfrm>
            <a:off x="1238484" y="1062243"/>
            <a:ext cx="8890895" cy="369332"/>
          </a:xfrm>
          <a:prstGeom prst="rect">
            <a:avLst/>
          </a:prstGeom>
          <a:noFill/>
        </p:spPr>
        <p:txBody>
          <a:bodyPr wrap="none" rtlCol="0">
            <a:spAutoFit/>
          </a:bodyPr>
          <a:lstStyle/>
          <a:p>
            <a:r>
              <a:rPr lang="en-IN" dirty="0"/>
              <a:t>The following snapshot shows the head of the data taken from Dataset used in Heart Disease</a:t>
            </a:r>
          </a:p>
        </p:txBody>
      </p:sp>
      <p:pic>
        <p:nvPicPr>
          <p:cNvPr id="8" name="Picture 7">
            <a:extLst>
              <a:ext uri="{FF2B5EF4-FFF2-40B4-BE49-F238E27FC236}">
                <a16:creationId xmlns:a16="http://schemas.microsoft.com/office/drawing/2014/main" id="{27A9D546-E8D9-1957-75EA-00D37D047858}"/>
              </a:ext>
            </a:extLst>
          </p:cNvPr>
          <p:cNvPicPr>
            <a:picLocks noChangeAspect="1"/>
          </p:cNvPicPr>
          <p:nvPr/>
        </p:nvPicPr>
        <p:blipFill>
          <a:blip r:embed="rId2"/>
          <a:stretch>
            <a:fillRect/>
          </a:stretch>
        </p:blipFill>
        <p:spPr>
          <a:xfrm>
            <a:off x="505086" y="2159205"/>
            <a:ext cx="10810793" cy="3547292"/>
          </a:xfrm>
          <a:prstGeom prst="rect">
            <a:avLst/>
          </a:prstGeom>
        </p:spPr>
      </p:pic>
    </p:spTree>
    <p:extLst>
      <p:ext uri="{BB962C8B-B14F-4D97-AF65-F5344CB8AC3E}">
        <p14:creationId xmlns:p14="http://schemas.microsoft.com/office/powerpoint/2010/main" val="5346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B1BE-8BE0-98B9-FC44-39E217D334DD}"/>
              </a:ext>
            </a:extLst>
          </p:cNvPr>
          <p:cNvSpPr>
            <a:spLocks noGrp="1"/>
          </p:cNvSpPr>
          <p:nvPr>
            <p:ph type="title"/>
          </p:nvPr>
        </p:nvSpPr>
        <p:spPr>
          <a:xfrm>
            <a:off x="176729" y="285334"/>
            <a:ext cx="10515600" cy="763624"/>
          </a:xfrm>
        </p:spPr>
        <p:txBody>
          <a:bodyPr/>
          <a:lstStyle/>
          <a:p>
            <a:r>
              <a:rPr lang="en-IN" b="1" dirty="0">
                <a:latin typeface="Times New Roman" panose="02020603050405020304" pitchFamily="18" charset="0"/>
                <a:cs typeface="Times New Roman" panose="02020603050405020304" pitchFamily="18" charset="0"/>
              </a:rPr>
              <a:t>Dataset Description </a:t>
            </a:r>
          </a:p>
        </p:txBody>
      </p:sp>
      <p:sp>
        <p:nvSpPr>
          <p:cNvPr id="3" name="Content Placeholder 2">
            <a:extLst>
              <a:ext uri="{FF2B5EF4-FFF2-40B4-BE49-F238E27FC236}">
                <a16:creationId xmlns:a16="http://schemas.microsoft.com/office/drawing/2014/main" id="{13015D07-D747-09E7-7145-4973E34592FF}"/>
              </a:ext>
            </a:extLst>
          </p:cNvPr>
          <p:cNvSpPr>
            <a:spLocks noGrp="1"/>
          </p:cNvSpPr>
          <p:nvPr>
            <p:ph idx="1"/>
          </p:nvPr>
        </p:nvSpPr>
        <p:spPr>
          <a:xfrm>
            <a:off x="744686" y="1335051"/>
            <a:ext cx="11447314" cy="5262636"/>
          </a:xfrm>
        </p:spPr>
        <p:txBody>
          <a:bodyPr>
            <a:normAutofit fontScale="85000" lnSpcReduction="20000"/>
          </a:bodyPr>
          <a:lstStyle/>
          <a:p>
            <a:pPr marL="0" indent="0">
              <a:buNone/>
            </a:pPr>
            <a:r>
              <a:rPr lang="en-IN" b="1" dirty="0">
                <a:solidFill>
                  <a:schemeClr val="accent5">
                    <a:lumMod val="50000"/>
                  </a:schemeClr>
                </a:solidFill>
              </a:rPr>
              <a:t>Dataset Size:  10000 x 21</a:t>
            </a:r>
            <a:endParaRPr lang="en-IN" b="1" i="1" dirty="0">
              <a:solidFill>
                <a:schemeClr val="accent5">
                  <a:lumMod val="75000"/>
                </a:schemeClr>
              </a:solidFill>
            </a:endParaRPr>
          </a:p>
          <a:p>
            <a:pPr marL="0" indent="0">
              <a:buNone/>
            </a:pPr>
            <a:r>
              <a:rPr lang="en-IN" dirty="0"/>
              <a:t>	Following are the parameters in dataset for Heart disease:</a:t>
            </a:r>
          </a:p>
          <a:p>
            <a:pPr marL="0" indent="0">
              <a:buNone/>
            </a:pPr>
            <a:r>
              <a:rPr lang="en-IN" dirty="0"/>
              <a:t> </a:t>
            </a:r>
          </a:p>
          <a:p>
            <a:pPr latinLnBrk="1"/>
            <a:r>
              <a:rPr lang="en-US" sz="2400" dirty="0">
                <a:solidFill>
                  <a:schemeClr val="accent5">
                    <a:lumMod val="75000"/>
                  </a:schemeClr>
                </a:solidFill>
              </a:rPr>
              <a:t>Age</a:t>
            </a:r>
          </a:p>
          <a:p>
            <a:pPr latinLnBrk="1"/>
            <a:r>
              <a:rPr lang="en-US" sz="2400" dirty="0">
                <a:solidFill>
                  <a:schemeClr val="accent5">
                    <a:lumMod val="75000"/>
                  </a:schemeClr>
                </a:solidFill>
              </a:rPr>
              <a:t>Gender</a:t>
            </a:r>
          </a:p>
          <a:p>
            <a:pPr latinLnBrk="1"/>
            <a:r>
              <a:rPr lang="en-US" sz="2400" dirty="0">
                <a:solidFill>
                  <a:schemeClr val="accent5">
                    <a:lumMod val="75000"/>
                  </a:schemeClr>
                </a:solidFill>
              </a:rPr>
              <a:t>Blood Pressure</a:t>
            </a:r>
          </a:p>
          <a:p>
            <a:pPr latinLnBrk="1"/>
            <a:r>
              <a:rPr lang="en-US" sz="2400" dirty="0">
                <a:solidFill>
                  <a:schemeClr val="accent5">
                    <a:lumMod val="75000"/>
                  </a:schemeClr>
                </a:solidFill>
              </a:rPr>
              <a:t>Cholesterol Level</a:t>
            </a:r>
          </a:p>
          <a:p>
            <a:pPr latinLnBrk="1"/>
            <a:r>
              <a:rPr lang="en-US" sz="2400" dirty="0">
                <a:solidFill>
                  <a:schemeClr val="accent5">
                    <a:lumMod val="75000"/>
                  </a:schemeClr>
                </a:solidFill>
              </a:rPr>
              <a:t>Exercise Habits</a:t>
            </a:r>
          </a:p>
          <a:p>
            <a:pPr latinLnBrk="1"/>
            <a:r>
              <a:rPr lang="en-US" sz="2400" dirty="0">
                <a:solidFill>
                  <a:schemeClr val="accent5">
                    <a:lumMod val="75000"/>
                  </a:schemeClr>
                </a:solidFill>
              </a:rPr>
              <a:t>Smoking</a:t>
            </a:r>
          </a:p>
          <a:p>
            <a:pPr latinLnBrk="1"/>
            <a:r>
              <a:rPr lang="en-US" sz="2400" dirty="0">
                <a:solidFill>
                  <a:schemeClr val="accent5">
                    <a:lumMod val="75000"/>
                  </a:schemeClr>
                </a:solidFill>
              </a:rPr>
              <a:t>Family Heart Disease</a:t>
            </a:r>
          </a:p>
          <a:p>
            <a:pPr latinLnBrk="1"/>
            <a:r>
              <a:rPr lang="en-US" sz="2400" dirty="0">
                <a:solidFill>
                  <a:schemeClr val="accent5">
                    <a:lumMod val="75000"/>
                  </a:schemeClr>
                </a:solidFill>
              </a:rPr>
              <a:t>Diabetes</a:t>
            </a:r>
          </a:p>
          <a:p>
            <a:pPr latinLnBrk="1"/>
            <a:r>
              <a:rPr lang="en-US" sz="2400" dirty="0">
                <a:solidFill>
                  <a:schemeClr val="accent5">
                    <a:lumMod val="75000"/>
                  </a:schemeClr>
                </a:solidFill>
              </a:rPr>
              <a:t>BMI</a:t>
            </a:r>
          </a:p>
          <a:p>
            <a:pPr latinLnBrk="1"/>
            <a:r>
              <a:rPr lang="en-US" sz="2400" dirty="0">
                <a:solidFill>
                  <a:schemeClr val="accent5">
                    <a:lumMod val="75000"/>
                  </a:schemeClr>
                </a:solidFill>
              </a:rPr>
              <a:t>High Blood Pressure</a:t>
            </a:r>
          </a:p>
          <a:p>
            <a:pPr latinLnBrk="1"/>
            <a:r>
              <a:rPr lang="en-US" sz="2400" dirty="0">
                <a:solidFill>
                  <a:schemeClr val="accent5">
                    <a:lumMod val="75000"/>
                  </a:schemeClr>
                </a:solidFill>
              </a:rPr>
              <a:t>Low HDL Cholesterol</a:t>
            </a:r>
          </a:p>
          <a:p>
            <a:pPr latinLnBrk="1"/>
            <a:endParaRPr lang="en-US" dirty="0"/>
          </a:p>
          <a:p>
            <a:endParaRPr lang="en-IN" dirty="0"/>
          </a:p>
        </p:txBody>
      </p:sp>
      <p:sp>
        <p:nvSpPr>
          <p:cNvPr id="5" name="Content Placeholder 2">
            <a:extLst>
              <a:ext uri="{FF2B5EF4-FFF2-40B4-BE49-F238E27FC236}">
                <a16:creationId xmlns:a16="http://schemas.microsoft.com/office/drawing/2014/main" id="{1E7923D0-E140-D8F8-E25C-86ABFD8AE1E0}"/>
              </a:ext>
            </a:extLst>
          </p:cNvPr>
          <p:cNvSpPr txBox="1">
            <a:spLocks/>
          </p:cNvSpPr>
          <p:nvPr/>
        </p:nvSpPr>
        <p:spPr>
          <a:xfrm>
            <a:off x="4523509" y="1482725"/>
            <a:ext cx="63419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atinLnBrk="1"/>
            <a:endParaRPr lang="en-US" dirty="0"/>
          </a:p>
          <a:p>
            <a:endParaRPr lang="en-IN" dirty="0"/>
          </a:p>
        </p:txBody>
      </p:sp>
      <p:sp>
        <p:nvSpPr>
          <p:cNvPr id="6" name="Content Placeholder 2">
            <a:extLst>
              <a:ext uri="{FF2B5EF4-FFF2-40B4-BE49-F238E27FC236}">
                <a16:creationId xmlns:a16="http://schemas.microsoft.com/office/drawing/2014/main" id="{D357D6DD-287B-784F-4932-50DCDEA0F0B6}"/>
              </a:ext>
            </a:extLst>
          </p:cNvPr>
          <p:cNvSpPr txBox="1">
            <a:spLocks/>
          </p:cNvSpPr>
          <p:nvPr/>
        </p:nvSpPr>
        <p:spPr>
          <a:xfrm>
            <a:off x="6056173" y="2350259"/>
            <a:ext cx="287681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atinLnBrk="1"/>
            <a:r>
              <a:rPr lang="en-US" sz="2000" dirty="0">
                <a:solidFill>
                  <a:schemeClr val="accent5">
                    <a:lumMod val="75000"/>
                  </a:schemeClr>
                </a:solidFill>
              </a:rPr>
              <a:t>High HDL Cholesterol</a:t>
            </a:r>
          </a:p>
          <a:p>
            <a:pPr latinLnBrk="1"/>
            <a:r>
              <a:rPr lang="en-US" sz="2000" dirty="0">
                <a:solidFill>
                  <a:schemeClr val="accent5">
                    <a:lumMod val="75000"/>
                  </a:schemeClr>
                </a:solidFill>
              </a:rPr>
              <a:t>Alcohol Consumption</a:t>
            </a:r>
          </a:p>
          <a:p>
            <a:pPr latinLnBrk="1"/>
            <a:r>
              <a:rPr lang="en-US" sz="2000" dirty="0">
                <a:solidFill>
                  <a:schemeClr val="accent5">
                    <a:lumMod val="75000"/>
                  </a:schemeClr>
                </a:solidFill>
              </a:rPr>
              <a:t>Stress Level</a:t>
            </a:r>
          </a:p>
          <a:p>
            <a:pPr latinLnBrk="1"/>
            <a:r>
              <a:rPr lang="en-US" sz="2000" dirty="0">
                <a:solidFill>
                  <a:schemeClr val="accent5">
                    <a:lumMod val="75000"/>
                  </a:schemeClr>
                </a:solidFill>
              </a:rPr>
              <a:t>Sleep Hours</a:t>
            </a:r>
          </a:p>
          <a:p>
            <a:pPr latinLnBrk="1"/>
            <a:r>
              <a:rPr lang="en-US" sz="2000" dirty="0">
                <a:solidFill>
                  <a:schemeClr val="accent5">
                    <a:lumMod val="75000"/>
                  </a:schemeClr>
                </a:solidFill>
              </a:rPr>
              <a:t>Sugar Consumption</a:t>
            </a:r>
          </a:p>
          <a:p>
            <a:pPr latinLnBrk="1"/>
            <a:r>
              <a:rPr lang="en-US" sz="2000" dirty="0">
                <a:solidFill>
                  <a:schemeClr val="accent5">
                    <a:lumMod val="75000"/>
                  </a:schemeClr>
                </a:solidFill>
              </a:rPr>
              <a:t>Triglyceride level</a:t>
            </a:r>
          </a:p>
          <a:p>
            <a:pPr latinLnBrk="1"/>
            <a:r>
              <a:rPr lang="en-US" sz="2000" dirty="0">
                <a:solidFill>
                  <a:schemeClr val="accent5">
                    <a:lumMod val="75000"/>
                  </a:schemeClr>
                </a:solidFill>
              </a:rPr>
              <a:t>Fasting Blood Sugar</a:t>
            </a:r>
          </a:p>
          <a:p>
            <a:pPr latinLnBrk="1"/>
            <a:r>
              <a:rPr lang="en-US" sz="2000" dirty="0">
                <a:solidFill>
                  <a:schemeClr val="accent5">
                    <a:lumMod val="75000"/>
                  </a:schemeClr>
                </a:solidFill>
              </a:rPr>
              <a:t>CRP level</a:t>
            </a:r>
          </a:p>
          <a:p>
            <a:pPr latinLnBrk="1"/>
            <a:r>
              <a:rPr lang="en-US" sz="2000" dirty="0">
                <a:solidFill>
                  <a:schemeClr val="accent5">
                    <a:lumMod val="75000"/>
                  </a:schemeClr>
                </a:solidFill>
              </a:rPr>
              <a:t>Homocysteine level          </a:t>
            </a:r>
          </a:p>
          <a:p>
            <a:pPr latinLnBrk="1"/>
            <a:r>
              <a:rPr lang="en-US" sz="2000" dirty="0">
                <a:solidFill>
                  <a:schemeClr val="accent5">
                    <a:lumMod val="75000"/>
                  </a:schemeClr>
                </a:solidFill>
              </a:rPr>
              <a:t> Heart Disease status</a:t>
            </a:r>
            <a:endParaRPr lang="en-IN" sz="2000" dirty="0">
              <a:solidFill>
                <a:schemeClr val="accent5">
                  <a:lumMod val="75000"/>
                </a:schemeClr>
              </a:solidFill>
            </a:endParaRPr>
          </a:p>
          <a:p>
            <a:pPr latinLnBrk="1"/>
            <a:endParaRPr lang="en-US" sz="2400" dirty="0"/>
          </a:p>
          <a:p>
            <a:endParaRPr lang="en-IN" dirty="0"/>
          </a:p>
        </p:txBody>
      </p:sp>
    </p:spTree>
    <p:extLst>
      <p:ext uri="{BB962C8B-B14F-4D97-AF65-F5344CB8AC3E}">
        <p14:creationId xmlns:p14="http://schemas.microsoft.com/office/powerpoint/2010/main" val="639558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885D-B267-DFDA-FF30-30AB265E847B}"/>
              </a:ext>
            </a:extLst>
          </p:cNvPr>
          <p:cNvSpPr>
            <a:spLocks noGrp="1"/>
          </p:cNvSpPr>
          <p:nvPr>
            <p:ph type="title"/>
          </p:nvPr>
        </p:nvSpPr>
        <p:spPr>
          <a:xfrm>
            <a:off x="235527" y="177919"/>
            <a:ext cx="10515600" cy="933739"/>
          </a:xfrm>
        </p:spPr>
        <p:txBody>
          <a:bodyPr/>
          <a:lstStyle/>
          <a:p>
            <a:r>
              <a:rPr lang="en-IN" b="1" dirty="0">
                <a:latin typeface="Times New Roman" panose="02020603050405020304" pitchFamily="18" charset="0"/>
                <a:cs typeface="Times New Roman" panose="02020603050405020304" pitchFamily="18" charset="0"/>
              </a:rPr>
              <a:t>Pipeline </a:t>
            </a:r>
          </a:p>
        </p:txBody>
      </p:sp>
      <p:grpSp>
        <p:nvGrpSpPr>
          <p:cNvPr id="25" name="Group 24">
            <a:extLst>
              <a:ext uri="{FF2B5EF4-FFF2-40B4-BE49-F238E27FC236}">
                <a16:creationId xmlns:a16="http://schemas.microsoft.com/office/drawing/2014/main" id="{1EB3AAB9-320B-87B8-4CA1-A36C4D616830}"/>
              </a:ext>
            </a:extLst>
          </p:cNvPr>
          <p:cNvGrpSpPr/>
          <p:nvPr/>
        </p:nvGrpSpPr>
        <p:grpSpPr>
          <a:xfrm>
            <a:off x="5877791" y="332325"/>
            <a:ext cx="4748645" cy="6193349"/>
            <a:chOff x="5912431" y="363677"/>
            <a:chExt cx="4748645" cy="6193349"/>
          </a:xfrm>
        </p:grpSpPr>
        <p:sp>
          <p:nvSpPr>
            <p:cNvPr id="7" name="Arrow: Down 6">
              <a:extLst>
                <a:ext uri="{FF2B5EF4-FFF2-40B4-BE49-F238E27FC236}">
                  <a16:creationId xmlns:a16="http://schemas.microsoft.com/office/drawing/2014/main" id="{264724B4-9896-6A74-1874-00913F17279D}"/>
                </a:ext>
              </a:extLst>
            </p:cNvPr>
            <p:cNvSpPr/>
            <p:nvPr/>
          </p:nvSpPr>
          <p:spPr>
            <a:xfrm>
              <a:off x="8214016" y="161030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Down 8">
              <a:extLst>
                <a:ext uri="{FF2B5EF4-FFF2-40B4-BE49-F238E27FC236}">
                  <a16:creationId xmlns:a16="http://schemas.microsoft.com/office/drawing/2014/main" id="{D924B16E-370E-5886-E358-A3D3CB8502B4}"/>
                </a:ext>
              </a:extLst>
            </p:cNvPr>
            <p:cNvSpPr/>
            <p:nvPr/>
          </p:nvSpPr>
          <p:spPr>
            <a:xfrm>
              <a:off x="8214016" y="2459691"/>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a:extLst>
                <a:ext uri="{FF2B5EF4-FFF2-40B4-BE49-F238E27FC236}">
                  <a16:creationId xmlns:a16="http://schemas.microsoft.com/office/drawing/2014/main" id="{63EA8A6C-F7A3-52D2-41B8-5FB59DEA4202}"/>
                </a:ext>
              </a:extLst>
            </p:cNvPr>
            <p:cNvSpPr/>
            <p:nvPr/>
          </p:nvSpPr>
          <p:spPr>
            <a:xfrm>
              <a:off x="8214016" y="333181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2BECECB6-0CAD-7E50-B838-6D87A21D6674}"/>
                </a:ext>
              </a:extLst>
            </p:cNvPr>
            <p:cNvSpPr/>
            <p:nvPr/>
          </p:nvSpPr>
          <p:spPr>
            <a:xfrm>
              <a:off x="8214016" y="4136658"/>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D2DD06A-2E84-BC47-2461-A825E8A1EAD1}"/>
                </a:ext>
              </a:extLst>
            </p:cNvPr>
            <p:cNvSpPr/>
            <p:nvPr/>
          </p:nvSpPr>
          <p:spPr>
            <a:xfrm>
              <a:off x="8214016" y="4968359"/>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Down 20">
              <a:extLst>
                <a:ext uri="{FF2B5EF4-FFF2-40B4-BE49-F238E27FC236}">
                  <a16:creationId xmlns:a16="http://schemas.microsoft.com/office/drawing/2014/main" id="{BAF1F84D-AF80-265E-0791-4D9E5A86EB50}"/>
                </a:ext>
              </a:extLst>
            </p:cNvPr>
            <p:cNvSpPr/>
            <p:nvPr/>
          </p:nvSpPr>
          <p:spPr>
            <a:xfrm>
              <a:off x="8214016" y="5789551"/>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4" name="Group 23">
              <a:extLst>
                <a:ext uri="{FF2B5EF4-FFF2-40B4-BE49-F238E27FC236}">
                  <a16:creationId xmlns:a16="http://schemas.microsoft.com/office/drawing/2014/main" id="{729E34AD-9839-0EED-2074-116F9ACC9397}"/>
                </a:ext>
              </a:extLst>
            </p:cNvPr>
            <p:cNvGrpSpPr/>
            <p:nvPr/>
          </p:nvGrpSpPr>
          <p:grpSpPr>
            <a:xfrm>
              <a:off x="5912431" y="363677"/>
              <a:ext cx="4748645" cy="6193349"/>
              <a:chOff x="5912431" y="363677"/>
              <a:chExt cx="4748645" cy="6193349"/>
            </a:xfrm>
          </p:grpSpPr>
          <p:sp>
            <p:nvSpPr>
              <p:cNvPr id="4" name="Rectangle 3">
                <a:extLst>
                  <a:ext uri="{FF2B5EF4-FFF2-40B4-BE49-F238E27FC236}">
                    <a16:creationId xmlns:a16="http://schemas.microsoft.com/office/drawing/2014/main" id="{E9F2D200-6A08-D8B6-5738-DD28444DA887}"/>
                  </a:ext>
                </a:extLst>
              </p:cNvPr>
              <p:cNvSpPr/>
              <p:nvPr/>
            </p:nvSpPr>
            <p:spPr>
              <a:xfrm>
                <a:off x="5922821" y="363677"/>
                <a:ext cx="4738255" cy="362238"/>
              </a:xfrm>
              <a:prstGeom prst="rect">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Data Collection </a:t>
                </a:r>
              </a:p>
            </p:txBody>
          </p:sp>
          <p:sp>
            <p:nvSpPr>
              <p:cNvPr id="5" name="Arrow: Down 4">
                <a:extLst>
                  <a:ext uri="{FF2B5EF4-FFF2-40B4-BE49-F238E27FC236}">
                    <a16:creationId xmlns:a16="http://schemas.microsoft.com/office/drawing/2014/main" id="{F23E9358-5282-900D-C814-DDF96565FF53}"/>
                  </a:ext>
                </a:extLst>
              </p:cNvPr>
              <p:cNvSpPr/>
              <p:nvPr/>
            </p:nvSpPr>
            <p:spPr>
              <a:xfrm>
                <a:off x="8214021" y="767344"/>
                <a:ext cx="155863" cy="3622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1983E01A-CDFC-6637-8391-F5F14D24AA7E}"/>
                  </a:ext>
                </a:extLst>
              </p:cNvPr>
              <p:cNvSpPr/>
              <p:nvPr/>
            </p:nvSpPr>
            <p:spPr>
              <a:xfrm>
                <a:off x="5922821" y="1160822"/>
                <a:ext cx="4738255" cy="414193"/>
              </a:xfrm>
              <a:prstGeom prst="rect">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Data Cleaning and Pre-processing </a:t>
                </a:r>
              </a:p>
            </p:txBody>
          </p:sp>
          <p:sp>
            <p:nvSpPr>
              <p:cNvPr id="8" name="Rectangle 7">
                <a:extLst>
                  <a:ext uri="{FF2B5EF4-FFF2-40B4-BE49-F238E27FC236}">
                    <a16:creationId xmlns:a16="http://schemas.microsoft.com/office/drawing/2014/main" id="{B7F651D3-9FDC-1938-5EB7-956724A02946}"/>
                  </a:ext>
                </a:extLst>
              </p:cNvPr>
              <p:cNvSpPr/>
              <p:nvPr/>
            </p:nvSpPr>
            <p:spPr>
              <a:xfrm>
                <a:off x="5912432" y="2016264"/>
                <a:ext cx="4738255" cy="41419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Exploratory Data Analysis (EDA) </a:t>
                </a:r>
              </a:p>
            </p:txBody>
          </p:sp>
          <p:sp>
            <p:nvSpPr>
              <p:cNvPr id="10" name="Rectangle 9">
                <a:extLst>
                  <a:ext uri="{FF2B5EF4-FFF2-40B4-BE49-F238E27FC236}">
                    <a16:creationId xmlns:a16="http://schemas.microsoft.com/office/drawing/2014/main" id="{68CC79C3-F8D6-FE81-F7D5-DBB9540ADE76}"/>
                  </a:ext>
                </a:extLst>
              </p:cNvPr>
              <p:cNvSpPr/>
              <p:nvPr/>
            </p:nvSpPr>
            <p:spPr>
              <a:xfrm>
                <a:off x="5922821" y="2871706"/>
                <a:ext cx="4738255" cy="43325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Feature Selection/ Feature Engineering </a:t>
                </a:r>
              </a:p>
            </p:txBody>
          </p:sp>
          <p:sp>
            <p:nvSpPr>
              <p:cNvPr id="14" name="Rectangle 13">
                <a:extLst>
                  <a:ext uri="{FF2B5EF4-FFF2-40B4-BE49-F238E27FC236}">
                    <a16:creationId xmlns:a16="http://schemas.microsoft.com/office/drawing/2014/main" id="{E7D87018-53B6-059C-2224-855868D56C14}"/>
                  </a:ext>
                </a:extLst>
              </p:cNvPr>
              <p:cNvSpPr/>
              <p:nvPr/>
            </p:nvSpPr>
            <p:spPr>
              <a:xfrm>
                <a:off x="5912431" y="3720909"/>
                <a:ext cx="4738255" cy="36223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Train-Test Split </a:t>
                </a:r>
              </a:p>
            </p:txBody>
          </p:sp>
          <p:sp>
            <p:nvSpPr>
              <p:cNvPr id="18" name="Rectangle 17">
                <a:extLst>
                  <a:ext uri="{FF2B5EF4-FFF2-40B4-BE49-F238E27FC236}">
                    <a16:creationId xmlns:a16="http://schemas.microsoft.com/office/drawing/2014/main" id="{51CDDD49-5F97-6FF2-F228-0B75EE972C94}"/>
                  </a:ext>
                </a:extLst>
              </p:cNvPr>
              <p:cNvSpPr/>
              <p:nvPr/>
            </p:nvSpPr>
            <p:spPr>
              <a:xfrm>
                <a:off x="5922821" y="4552407"/>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Model Training </a:t>
                </a:r>
              </a:p>
            </p:txBody>
          </p:sp>
          <p:sp>
            <p:nvSpPr>
              <p:cNvPr id="20" name="Rectangle 19">
                <a:extLst>
                  <a:ext uri="{FF2B5EF4-FFF2-40B4-BE49-F238E27FC236}">
                    <a16:creationId xmlns:a16="http://schemas.microsoft.com/office/drawing/2014/main" id="{4D5743E7-4848-8667-C2F8-C97CC1195830}"/>
                  </a:ext>
                </a:extLst>
              </p:cNvPr>
              <p:cNvSpPr/>
              <p:nvPr/>
            </p:nvSpPr>
            <p:spPr>
              <a:xfrm>
                <a:off x="5922821" y="5373599"/>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Model Evaluation </a:t>
                </a:r>
              </a:p>
            </p:txBody>
          </p:sp>
          <p:sp>
            <p:nvSpPr>
              <p:cNvPr id="22" name="Rectangle 21">
                <a:extLst>
                  <a:ext uri="{FF2B5EF4-FFF2-40B4-BE49-F238E27FC236}">
                    <a16:creationId xmlns:a16="http://schemas.microsoft.com/office/drawing/2014/main" id="{85E4896B-3122-233F-0DF3-544212DBCCEC}"/>
                  </a:ext>
                </a:extLst>
              </p:cNvPr>
              <p:cNvSpPr/>
              <p:nvPr/>
            </p:nvSpPr>
            <p:spPr>
              <a:xfrm>
                <a:off x="5922821" y="6185856"/>
                <a:ext cx="4738255" cy="37117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Final Model Selection </a:t>
                </a:r>
              </a:p>
            </p:txBody>
          </p:sp>
        </p:grpSp>
      </p:grpSp>
    </p:spTree>
    <p:extLst>
      <p:ext uri="{BB962C8B-B14F-4D97-AF65-F5344CB8AC3E}">
        <p14:creationId xmlns:p14="http://schemas.microsoft.com/office/powerpoint/2010/main" val="216340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7C73E-9F18-9366-A189-9E7744360622}"/>
              </a:ext>
            </a:extLst>
          </p:cNvPr>
          <p:cNvSpPr>
            <a:spLocks noGrp="1"/>
          </p:cNvSpPr>
          <p:nvPr>
            <p:ph type="title"/>
          </p:nvPr>
        </p:nvSpPr>
        <p:spPr>
          <a:xfrm>
            <a:off x="69715" y="18255"/>
            <a:ext cx="10515600" cy="769685"/>
          </a:xfrm>
        </p:spPr>
        <p:txBody>
          <a:bodyPr/>
          <a:lstStyle/>
          <a:p>
            <a:r>
              <a:rPr lang="en-IN" b="1" dirty="0">
                <a:latin typeface="Times New Roman" panose="02020603050405020304" pitchFamily="18" charset="0"/>
                <a:cs typeface="Times New Roman" panose="02020603050405020304" pitchFamily="18" charset="0"/>
              </a:rPr>
              <a:t>Data Cleaning and Pre-processing </a:t>
            </a:r>
          </a:p>
        </p:txBody>
      </p:sp>
      <p:sp>
        <p:nvSpPr>
          <p:cNvPr id="3" name="Content Placeholder 2">
            <a:extLst>
              <a:ext uri="{FF2B5EF4-FFF2-40B4-BE49-F238E27FC236}">
                <a16:creationId xmlns:a16="http://schemas.microsoft.com/office/drawing/2014/main" id="{B6E73B02-768D-ADB3-EE65-8F6CA7A53C00}"/>
              </a:ext>
            </a:extLst>
          </p:cNvPr>
          <p:cNvSpPr>
            <a:spLocks noGrp="1"/>
          </p:cNvSpPr>
          <p:nvPr>
            <p:ph idx="1"/>
          </p:nvPr>
        </p:nvSpPr>
        <p:spPr>
          <a:xfrm>
            <a:off x="261126" y="971600"/>
            <a:ext cx="11284429" cy="5886400"/>
          </a:xfrm>
        </p:spPr>
        <p:txBody>
          <a:bodyPr>
            <a:normAutofit/>
          </a:bodyPr>
          <a:lstStyle/>
          <a:p>
            <a:r>
              <a:rPr lang="en-IN" sz="1800" dirty="0">
                <a:latin typeface="Times New Roman" panose="02020603050405020304" pitchFamily="18" charset="0"/>
                <a:cs typeface="Times New Roman" panose="02020603050405020304" pitchFamily="18" charset="0"/>
              </a:rPr>
              <a:t>The main aim of Data Cleaning is to identify and remove errors and duplicate data, in order to create a reliable dataset. </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 process of data cleaning is done by using a very famous library pandas. </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Initially those columns/features and values (non-relevant) are dropped from our dataset which showed only null values in the entire column.</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 rows having a null value in any columns are dropped from our dataset. </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 columns having character as well as integer values are converted into integer values only. </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Many more data cleaning techniques are used to improve the quality of our dataset. </a:t>
            </a:r>
          </a:p>
        </p:txBody>
      </p:sp>
    </p:spTree>
    <p:extLst>
      <p:ext uri="{BB962C8B-B14F-4D97-AF65-F5344CB8AC3E}">
        <p14:creationId xmlns:p14="http://schemas.microsoft.com/office/powerpoint/2010/main" val="150455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13510-A055-15F9-6AD2-4853AA3625FE}"/>
              </a:ext>
            </a:extLst>
          </p:cNvPr>
          <p:cNvSpPr>
            <a:spLocks noGrp="1"/>
          </p:cNvSpPr>
          <p:nvPr>
            <p:ph idx="1"/>
          </p:nvPr>
        </p:nvSpPr>
        <p:spPr>
          <a:xfrm>
            <a:off x="103148" y="1270000"/>
            <a:ext cx="11720551" cy="5510794"/>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214A59EA-8AC9-4AE8-7A7F-EA07EF98AD47}"/>
              </a:ext>
            </a:extLst>
          </p:cNvPr>
          <p:cNvSpPr>
            <a:spLocks noGrp="1"/>
          </p:cNvSpPr>
          <p:nvPr>
            <p:ph type="title"/>
          </p:nvPr>
        </p:nvSpPr>
        <p:spPr>
          <a:xfrm>
            <a:off x="44450" y="77206"/>
            <a:ext cx="10515600" cy="963052"/>
          </a:xfrm>
        </p:spPr>
        <p:txBody>
          <a:bodyPr/>
          <a:lstStyle/>
          <a:p>
            <a:r>
              <a:rPr lang="en-IN" b="1" dirty="0">
                <a:latin typeface="Times New Roman" panose="02020603050405020304" pitchFamily="18" charset="0"/>
                <a:cs typeface="Times New Roman" panose="02020603050405020304" pitchFamily="18" charset="0"/>
              </a:rPr>
              <a:t>Data Cleaning and Pre-processing </a:t>
            </a:r>
          </a:p>
        </p:txBody>
      </p:sp>
      <p:pic>
        <p:nvPicPr>
          <p:cNvPr id="5" name="Picture 4">
            <a:extLst>
              <a:ext uri="{FF2B5EF4-FFF2-40B4-BE49-F238E27FC236}">
                <a16:creationId xmlns:a16="http://schemas.microsoft.com/office/drawing/2014/main" id="{683510FB-B91E-1709-59E6-A90A1DE078BA}"/>
              </a:ext>
            </a:extLst>
          </p:cNvPr>
          <p:cNvPicPr>
            <a:picLocks noChangeAspect="1"/>
          </p:cNvPicPr>
          <p:nvPr/>
        </p:nvPicPr>
        <p:blipFill>
          <a:blip r:embed="rId2"/>
          <a:stretch>
            <a:fillRect/>
          </a:stretch>
        </p:blipFill>
        <p:spPr>
          <a:xfrm>
            <a:off x="1050232" y="1150872"/>
            <a:ext cx="2695951" cy="4991797"/>
          </a:xfrm>
          <a:prstGeom prst="rect">
            <a:avLst/>
          </a:prstGeom>
        </p:spPr>
      </p:pic>
      <p:pic>
        <p:nvPicPr>
          <p:cNvPr id="8" name="Picture 7">
            <a:extLst>
              <a:ext uri="{FF2B5EF4-FFF2-40B4-BE49-F238E27FC236}">
                <a16:creationId xmlns:a16="http://schemas.microsoft.com/office/drawing/2014/main" id="{D3751D2F-F118-C381-BF63-C8A87A69CC95}"/>
              </a:ext>
            </a:extLst>
          </p:cNvPr>
          <p:cNvPicPr>
            <a:picLocks noChangeAspect="1"/>
          </p:cNvPicPr>
          <p:nvPr/>
        </p:nvPicPr>
        <p:blipFill>
          <a:blip r:embed="rId3"/>
          <a:stretch>
            <a:fillRect/>
          </a:stretch>
        </p:blipFill>
        <p:spPr>
          <a:xfrm>
            <a:off x="4871866" y="1150872"/>
            <a:ext cx="2448267" cy="4982270"/>
          </a:xfrm>
          <a:prstGeom prst="rect">
            <a:avLst/>
          </a:prstGeom>
        </p:spPr>
      </p:pic>
      <p:pic>
        <p:nvPicPr>
          <p:cNvPr id="11" name="Picture 10">
            <a:extLst>
              <a:ext uri="{FF2B5EF4-FFF2-40B4-BE49-F238E27FC236}">
                <a16:creationId xmlns:a16="http://schemas.microsoft.com/office/drawing/2014/main" id="{636B93DF-2C20-7CD7-2A18-907F1BC0BF88}"/>
              </a:ext>
            </a:extLst>
          </p:cNvPr>
          <p:cNvPicPr>
            <a:picLocks noChangeAspect="1"/>
          </p:cNvPicPr>
          <p:nvPr/>
        </p:nvPicPr>
        <p:blipFill>
          <a:blip r:embed="rId4"/>
          <a:stretch>
            <a:fillRect/>
          </a:stretch>
        </p:blipFill>
        <p:spPr>
          <a:xfrm>
            <a:off x="8350553" y="1112766"/>
            <a:ext cx="2791215" cy="5020376"/>
          </a:xfrm>
          <a:prstGeom prst="rect">
            <a:avLst/>
          </a:prstGeom>
        </p:spPr>
      </p:pic>
    </p:spTree>
    <p:extLst>
      <p:ext uri="{BB962C8B-B14F-4D97-AF65-F5344CB8AC3E}">
        <p14:creationId xmlns:p14="http://schemas.microsoft.com/office/powerpoint/2010/main" val="10286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3C26-5FB8-19D7-A988-F569DA1ADEE7}"/>
              </a:ext>
            </a:extLst>
          </p:cNvPr>
          <p:cNvSpPr>
            <a:spLocks noGrp="1"/>
          </p:cNvSpPr>
          <p:nvPr>
            <p:ph type="title"/>
          </p:nvPr>
        </p:nvSpPr>
        <p:spPr>
          <a:xfrm>
            <a:off x="0" y="0"/>
            <a:ext cx="12192000" cy="709381"/>
          </a:xfrm>
        </p:spPr>
        <p:txBody>
          <a:bodyPr>
            <a:normAutofit/>
          </a:bodyPr>
          <a:lstStyle/>
          <a:p>
            <a:r>
              <a:rPr lang="en-IN" sz="3900" b="1" dirty="0">
                <a:latin typeface="Times New Roman" panose="02020603050405020304" pitchFamily="18" charset="0"/>
                <a:cs typeface="Times New Roman" panose="02020603050405020304" pitchFamily="18" charset="0"/>
              </a:rPr>
              <a:t>Data Visualization and EDA (Exploratory data Analysis)</a:t>
            </a:r>
          </a:p>
        </p:txBody>
      </p:sp>
      <p:sp>
        <p:nvSpPr>
          <p:cNvPr id="4" name="Rectangle 1">
            <a:extLst>
              <a:ext uri="{FF2B5EF4-FFF2-40B4-BE49-F238E27FC236}">
                <a16:creationId xmlns:a16="http://schemas.microsoft.com/office/drawing/2014/main" id="{9D312BAE-0177-D6B5-C53D-171CFD1196A1}"/>
              </a:ext>
            </a:extLst>
          </p:cNvPr>
          <p:cNvSpPr>
            <a:spLocks noGrp="1" noChangeArrowheads="1"/>
          </p:cNvSpPr>
          <p:nvPr>
            <p:ph idx="1"/>
          </p:nvPr>
        </p:nvSpPr>
        <p:spPr bwMode="auto">
          <a:xfrm>
            <a:off x="209085" y="823712"/>
            <a:ext cx="11773829"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 helps us understand the data before building any model.</a:t>
            </a:r>
          </a:p>
          <a:p>
            <a:pPr marR="0" lvl="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visualizing patterns, trends, correlations, and identifying outliers or unusual values.</a:t>
            </a:r>
          </a:p>
          <a:p>
            <a:pPr marR="0" lvl="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EDA allows us to see which features influence heart disease the most.</a:t>
            </a:r>
          </a:p>
          <a:p>
            <a:pPr marR="0" lvl="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charts like histograms, box plots, pair plots, and correlation heatmaps make it easier to interpret relationships in the dataset.</a:t>
            </a:r>
            <a:endParaRPr lang="en-US" alt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21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FB3F-D2DC-899B-F4D4-FD3754653C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F0C37B-B772-8FA1-BAC9-4C5CBC97D411}"/>
              </a:ext>
            </a:extLst>
          </p:cNvPr>
          <p:cNvSpPr>
            <a:spLocks noGrp="1"/>
          </p:cNvSpPr>
          <p:nvPr>
            <p:ph idx="1"/>
          </p:nvPr>
        </p:nvSpPr>
        <p:spPr/>
        <p:txBody>
          <a:bodyPr/>
          <a:lstStyle/>
          <a:p>
            <a:pPr marL="0" indent="0" algn="ctr">
              <a:buNone/>
            </a:pPr>
            <a:r>
              <a:rPr lang="en-US" altLang="en-US" dirty="0">
                <a:latin typeface="Times New Roman" panose="02020603050405020304" pitchFamily="18" charset="0"/>
                <a:cs typeface="Times New Roman" panose="02020603050405020304" pitchFamily="18" charset="0"/>
              </a:rPr>
              <a:t>In the next few slides, I will show some of the important plots and relationships among data.</a:t>
            </a:r>
          </a:p>
          <a:p>
            <a:endParaRPr lang="en-IN" dirty="0"/>
          </a:p>
        </p:txBody>
      </p:sp>
    </p:spTree>
    <p:extLst>
      <p:ext uri="{BB962C8B-B14F-4D97-AF65-F5344CB8AC3E}">
        <p14:creationId xmlns:p14="http://schemas.microsoft.com/office/powerpoint/2010/main" val="1338547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97E7-EC10-91B2-2912-01B626F3A0C7}"/>
              </a:ext>
            </a:extLst>
          </p:cNvPr>
          <p:cNvSpPr>
            <a:spLocks noGrp="1"/>
          </p:cNvSpPr>
          <p:nvPr>
            <p:ph type="title"/>
          </p:nvPr>
        </p:nvSpPr>
        <p:spPr>
          <a:xfrm>
            <a:off x="314092" y="0"/>
            <a:ext cx="6891454" cy="894158"/>
          </a:xfrm>
        </p:spPr>
        <p:txBody>
          <a:bodyPr>
            <a:normAutofit/>
          </a:body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E3F75D-5983-4937-7B6C-DCF1FC7FFE0D}"/>
              </a:ext>
            </a:extLst>
          </p:cNvPr>
          <p:cNvSpPr>
            <a:spLocks noGrp="1"/>
          </p:cNvSpPr>
          <p:nvPr>
            <p:ph idx="1"/>
          </p:nvPr>
        </p:nvSpPr>
        <p:spPr>
          <a:xfrm>
            <a:off x="314092" y="1105419"/>
            <a:ext cx="10515600" cy="4351338"/>
          </a:xfrm>
        </p:spPr>
        <p:txBody>
          <a:bodyPr/>
          <a:lstStyle/>
          <a:p>
            <a:pPr marL="0" indent="0">
              <a:buNone/>
            </a:pPr>
            <a:endParaRPr lang="en-IN" dirty="0"/>
          </a:p>
        </p:txBody>
      </p:sp>
      <p:pic>
        <p:nvPicPr>
          <p:cNvPr id="8" name="Picture 7">
            <a:extLst>
              <a:ext uri="{FF2B5EF4-FFF2-40B4-BE49-F238E27FC236}">
                <a16:creationId xmlns:a16="http://schemas.microsoft.com/office/drawing/2014/main" id="{EA6F66CE-2339-587A-F11F-9F1A6D12380C}"/>
              </a:ext>
            </a:extLst>
          </p:cNvPr>
          <p:cNvPicPr>
            <a:picLocks noChangeAspect="1"/>
          </p:cNvPicPr>
          <p:nvPr/>
        </p:nvPicPr>
        <p:blipFill>
          <a:blip r:embed="rId2"/>
          <a:stretch>
            <a:fillRect/>
          </a:stretch>
        </p:blipFill>
        <p:spPr>
          <a:xfrm>
            <a:off x="241161" y="1140887"/>
            <a:ext cx="5728438" cy="4757095"/>
          </a:xfrm>
          <a:prstGeom prst="rect">
            <a:avLst/>
          </a:prstGeom>
        </p:spPr>
      </p:pic>
      <p:pic>
        <p:nvPicPr>
          <p:cNvPr id="10" name="Picture 9">
            <a:extLst>
              <a:ext uri="{FF2B5EF4-FFF2-40B4-BE49-F238E27FC236}">
                <a16:creationId xmlns:a16="http://schemas.microsoft.com/office/drawing/2014/main" id="{788D7748-3980-5180-FC8C-2DBB183DBE7D}"/>
              </a:ext>
            </a:extLst>
          </p:cNvPr>
          <p:cNvPicPr>
            <a:picLocks noChangeAspect="1"/>
          </p:cNvPicPr>
          <p:nvPr/>
        </p:nvPicPr>
        <p:blipFill>
          <a:blip r:embed="rId3"/>
          <a:stretch>
            <a:fillRect/>
          </a:stretch>
        </p:blipFill>
        <p:spPr>
          <a:xfrm>
            <a:off x="6242700" y="1401243"/>
            <a:ext cx="5708139" cy="4418931"/>
          </a:xfrm>
          <a:prstGeom prst="rect">
            <a:avLst/>
          </a:prstGeom>
        </p:spPr>
      </p:pic>
    </p:spTree>
    <p:extLst>
      <p:ext uri="{BB962C8B-B14F-4D97-AF65-F5344CB8AC3E}">
        <p14:creationId xmlns:p14="http://schemas.microsoft.com/office/powerpoint/2010/main" val="3951128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0E31A7-CAF9-18A3-101E-FCDF88158D44}"/>
              </a:ext>
            </a:extLst>
          </p:cNvPr>
          <p:cNvSpPr>
            <a:spLocks noGrp="1"/>
          </p:cNvSpPr>
          <p:nvPr>
            <p:ph idx="1"/>
          </p:nvPr>
        </p:nvSpPr>
        <p:spPr>
          <a:xfrm>
            <a:off x="314092" y="896218"/>
            <a:ext cx="11563816" cy="4351338"/>
          </a:xfrm>
        </p:spPr>
        <p:txBody>
          <a:bodyPr>
            <a:normAutofit/>
          </a:bodyPr>
          <a:lstStyle/>
          <a:p>
            <a:pPr marL="0" indent="0">
              <a:buNone/>
            </a:pPr>
            <a:endParaRPr lang="en-IN" sz="2400" dirty="0">
              <a:solidFill>
                <a:schemeClr val="accent2"/>
              </a:solidFill>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D457A8DA-D7EC-4D57-1C92-67D565853AB5}"/>
              </a:ext>
            </a:extLst>
          </p:cNvPr>
          <p:cNvSpPr txBox="1">
            <a:spLocks/>
          </p:cNvSpPr>
          <p:nvPr/>
        </p:nvSpPr>
        <p:spPr>
          <a:xfrm>
            <a:off x="314092" y="0"/>
            <a:ext cx="6891454"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0C8397F-ED43-EE13-230E-9413A1783A8B}"/>
              </a:ext>
            </a:extLst>
          </p:cNvPr>
          <p:cNvPicPr>
            <a:picLocks noChangeAspect="1"/>
          </p:cNvPicPr>
          <p:nvPr/>
        </p:nvPicPr>
        <p:blipFill>
          <a:blip r:embed="rId2"/>
          <a:stretch>
            <a:fillRect/>
          </a:stretch>
        </p:blipFill>
        <p:spPr>
          <a:xfrm>
            <a:off x="4833258" y="0"/>
            <a:ext cx="5735692" cy="6858000"/>
          </a:xfrm>
          <a:prstGeom prst="rect">
            <a:avLst/>
          </a:prstGeom>
        </p:spPr>
      </p:pic>
    </p:spTree>
    <p:extLst>
      <p:ext uri="{BB962C8B-B14F-4D97-AF65-F5344CB8AC3E}">
        <p14:creationId xmlns:p14="http://schemas.microsoft.com/office/powerpoint/2010/main" val="587226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0CE2073-47C8-58FD-8177-9350BA8B2853}"/>
              </a:ext>
            </a:extLst>
          </p:cNvPr>
          <p:cNvSpPr txBox="1">
            <a:spLocks/>
          </p:cNvSpPr>
          <p:nvPr/>
        </p:nvSpPr>
        <p:spPr>
          <a:xfrm>
            <a:off x="0" y="1253331"/>
            <a:ext cx="43043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chemeClr val="accent2"/>
                </a:solidFill>
                <a:latin typeface="Times New Roman" panose="02020603050405020304" pitchFamily="18" charset="0"/>
                <a:cs typeface="Times New Roman" panose="02020603050405020304" pitchFamily="18" charset="0"/>
              </a:rPr>
              <a:t>Histogram of all numerical feature</a:t>
            </a:r>
          </a:p>
        </p:txBody>
      </p:sp>
      <p:sp>
        <p:nvSpPr>
          <p:cNvPr id="9" name="Title 1">
            <a:extLst>
              <a:ext uri="{FF2B5EF4-FFF2-40B4-BE49-F238E27FC236}">
                <a16:creationId xmlns:a16="http://schemas.microsoft.com/office/drawing/2014/main" id="{BD335BB3-1F9F-BE4A-1F71-E750D5A642CF}"/>
              </a:ext>
            </a:extLst>
          </p:cNvPr>
          <p:cNvSpPr txBox="1">
            <a:spLocks/>
          </p:cNvSpPr>
          <p:nvPr/>
        </p:nvSpPr>
        <p:spPr>
          <a:xfrm>
            <a:off x="79916" y="0"/>
            <a:ext cx="8729547"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 (Outlier Detection)</a:t>
            </a:r>
            <a:endParaRPr lang="en-IN" sz="4000" b="1" dirty="0">
              <a:solidFill>
                <a:schemeClr val="accent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45B25D0-93D7-45A3-2E75-5C9B905F45DB}"/>
              </a:ext>
            </a:extLst>
          </p:cNvPr>
          <p:cNvPicPr>
            <a:picLocks noChangeAspect="1"/>
          </p:cNvPicPr>
          <p:nvPr/>
        </p:nvPicPr>
        <p:blipFill>
          <a:blip r:embed="rId2"/>
          <a:stretch>
            <a:fillRect/>
          </a:stretch>
        </p:blipFill>
        <p:spPr>
          <a:xfrm>
            <a:off x="5058875" y="746622"/>
            <a:ext cx="6114892" cy="6027118"/>
          </a:xfrm>
          <a:prstGeom prst="rect">
            <a:avLst/>
          </a:prstGeom>
        </p:spPr>
      </p:pic>
    </p:spTree>
    <p:extLst>
      <p:ext uri="{BB962C8B-B14F-4D97-AF65-F5344CB8AC3E}">
        <p14:creationId xmlns:p14="http://schemas.microsoft.com/office/powerpoint/2010/main" val="106662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9599105-F752-BCF0-5C2C-3CAD74D3EA96}"/>
              </a:ext>
            </a:extLst>
          </p:cNvPr>
          <p:cNvSpPr txBox="1">
            <a:spLocks/>
          </p:cNvSpPr>
          <p:nvPr/>
        </p:nvSpPr>
        <p:spPr>
          <a:xfrm>
            <a:off x="0" y="-81954"/>
            <a:ext cx="8597590" cy="8941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DB501494-900A-C8D3-3E1B-4A7EEAB8192A}"/>
              </a:ext>
            </a:extLst>
          </p:cNvPr>
          <p:cNvSpPr txBox="1">
            <a:spLocks/>
          </p:cNvSpPr>
          <p:nvPr/>
        </p:nvSpPr>
        <p:spPr>
          <a:xfrm>
            <a:off x="0" y="1253331"/>
            <a:ext cx="42151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Categorical Column vs Target</a:t>
            </a:r>
            <a:endParaRPr lang="en-IN" sz="2400" dirty="0">
              <a:solidFill>
                <a:schemeClr val="accent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0262302-C555-1704-9C3B-247B2F36599F}"/>
              </a:ext>
            </a:extLst>
          </p:cNvPr>
          <p:cNvPicPr>
            <a:picLocks noChangeAspect="1"/>
          </p:cNvPicPr>
          <p:nvPr/>
        </p:nvPicPr>
        <p:blipFill>
          <a:blip r:embed="rId2"/>
          <a:stretch>
            <a:fillRect/>
          </a:stretch>
        </p:blipFill>
        <p:spPr>
          <a:xfrm>
            <a:off x="5478819" y="671584"/>
            <a:ext cx="5896798" cy="5715798"/>
          </a:xfrm>
          <a:prstGeom prst="rect">
            <a:avLst/>
          </a:prstGeom>
        </p:spPr>
      </p:pic>
    </p:spTree>
    <p:extLst>
      <p:ext uri="{BB962C8B-B14F-4D97-AF65-F5344CB8AC3E}">
        <p14:creationId xmlns:p14="http://schemas.microsoft.com/office/powerpoint/2010/main" val="194014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764FFE-86FA-1986-F71F-482A9E535B15}"/>
              </a:ext>
            </a:extLst>
          </p:cNvPr>
          <p:cNvSpPr>
            <a:spLocks noGrp="1"/>
          </p:cNvSpPr>
          <p:nvPr>
            <p:ph idx="1"/>
          </p:nvPr>
        </p:nvSpPr>
        <p:spPr/>
        <p:txBody>
          <a:bodyPr/>
          <a:lstStyle/>
          <a:p>
            <a:endParaRPr lang="en-IN" dirty="0"/>
          </a:p>
        </p:txBody>
      </p:sp>
      <p:sp>
        <p:nvSpPr>
          <p:cNvPr id="8" name="Title 1">
            <a:extLst>
              <a:ext uri="{FF2B5EF4-FFF2-40B4-BE49-F238E27FC236}">
                <a16:creationId xmlns:a16="http://schemas.microsoft.com/office/drawing/2014/main" id="{ABEC8A89-37EE-1B3F-9972-FFA8AAD9BF3E}"/>
              </a:ext>
            </a:extLst>
          </p:cNvPr>
          <p:cNvSpPr txBox="1">
            <a:spLocks/>
          </p:cNvSpPr>
          <p:nvPr/>
        </p:nvSpPr>
        <p:spPr>
          <a:xfrm>
            <a:off x="0" y="1"/>
            <a:ext cx="6949699" cy="888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9E333D9E-130F-0203-32AE-50DB26821FAB}"/>
              </a:ext>
            </a:extLst>
          </p:cNvPr>
          <p:cNvSpPr txBox="1">
            <a:spLocks/>
          </p:cNvSpPr>
          <p:nvPr/>
        </p:nvSpPr>
        <p:spPr>
          <a:xfrm>
            <a:off x="0" y="769369"/>
            <a:ext cx="74155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Correlation of Numerical columns with Heart Disease: </a:t>
            </a:r>
            <a:endParaRPr lang="en-IN" sz="2400" dirty="0">
              <a:solidFill>
                <a:schemeClr val="accent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864AA8E-79F5-4995-D37F-A011D17E67AB}"/>
              </a:ext>
            </a:extLst>
          </p:cNvPr>
          <p:cNvPicPr>
            <a:picLocks noChangeAspect="1"/>
          </p:cNvPicPr>
          <p:nvPr/>
        </p:nvPicPr>
        <p:blipFill>
          <a:blip r:embed="rId2"/>
          <a:stretch>
            <a:fillRect/>
          </a:stretch>
        </p:blipFill>
        <p:spPr>
          <a:xfrm>
            <a:off x="1999741" y="1175658"/>
            <a:ext cx="7477510" cy="5682342"/>
          </a:xfrm>
          <a:prstGeom prst="rect">
            <a:avLst/>
          </a:prstGeom>
        </p:spPr>
      </p:pic>
    </p:spTree>
    <p:extLst>
      <p:ext uri="{BB962C8B-B14F-4D97-AF65-F5344CB8AC3E}">
        <p14:creationId xmlns:p14="http://schemas.microsoft.com/office/powerpoint/2010/main" val="38969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A241D-414A-FDC2-7020-C37F7BEC8805}"/>
              </a:ext>
            </a:extLst>
          </p:cNvPr>
          <p:cNvSpPr>
            <a:spLocks noGrp="1"/>
          </p:cNvSpPr>
          <p:nvPr>
            <p:ph idx="1"/>
          </p:nvPr>
        </p:nvSpPr>
        <p:spPr/>
        <p:txBody>
          <a:bodyPr/>
          <a:lstStyle/>
          <a:p>
            <a:endParaRPr lang="en-IN"/>
          </a:p>
        </p:txBody>
      </p:sp>
      <p:sp>
        <p:nvSpPr>
          <p:cNvPr id="8" name="Title 1">
            <a:extLst>
              <a:ext uri="{FF2B5EF4-FFF2-40B4-BE49-F238E27FC236}">
                <a16:creationId xmlns:a16="http://schemas.microsoft.com/office/drawing/2014/main" id="{F9D377D3-01CC-6FB2-5A38-1C53C9DA72B1}"/>
              </a:ext>
            </a:extLst>
          </p:cNvPr>
          <p:cNvSpPr txBox="1">
            <a:spLocks/>
          </p:cNvSpPr>
          <p:nvPr/>
        </p:nvSpPr>
        <p:spPr>
          <a:xfrm>
            <a:off x="0" y="1"/>
            <a:ext cx="6949699" cy="888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C92CEE1E-BE54-C504-679C-C0E1D6A5DAD0}"/>
              </a:ext>
            </a:extLst>
          </p:cNvPr>
          <p:cNvSpPr txBox="1">
            <a:spLocks/>
          </p:cNvSpPr>
          <p:nvPr/>
        </p:nvSpPr>
        <p:spPr>
          <a:xfrm>
            <a:off x="197867" y="880228"/>
            <a:ext cx="117087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2"/>
                </a:solidFill>
                <a:latin typeface="Times New Roman" panose="02020603050405020304" pitchFamily="18" charset="0"/>
                <a:cs typeface="Times New Roman" panose="02020603050405020304" pitchFamily="18" charset="0"/>
              </a:rPr>
              <a:t> </a:t>
            </a:r>
            <a:endParaRPr lang="en-IN" sz="2400" dirty="0">
              <a:solidFill>
                <a:schemeClr val="accent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CF33B0-1F9E-E71B-A009-3B8C1C54790C}"/>
              </a:ext>
            </a:extLst>
          </p:cNvPr>
          <p:cNvPicPr>
            <a:picLocks noChangeAspect="1"/>
          </p:cNvPicPr>
          <p:nvPr/>
        </p:nvPicPr>
        <p:blipFill>
          <a:blip r:embed="rId2"/>
          <a:stretch>
            <a:fillRect/>
          </a:stretch>
        </p:blipFill>
        <p:spPr>
          <a:xfrm>
            <a:off x="4537062" y="0"/>
            <a:ext cx="7014605" cy="6858000"/>
          </a:xfrm>
          <a:prstGeom prst="rect">
            <a:avLst/>
          </a:prstGeom>
        </p:spPr>
      </p:pic>
    </p:spTree>
    <p:extLst>
      <p:ext uri="{BB962C8B-B14F-4D97-AF65-F5344CB8AC3E}">
        <p14:creationId xmlns:p14="http://schemas.microsoft.com/office/powerpoint/2010/main" val="1623589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E806-CA5B-5928-CFB2-377D7CA60CC7}"/>
              </a:ext>
            </a:extLst>
          </p:cNvPr>
          <p:cNvSpPr>
            <a:spLocks noGrp="1"/>
          </p:cNvSpPr>
          <p:nvPr>
            <p:ph type="title"/>
          </p:nvPr>
        </p:nvSpPr>
        <p:spPr>
          <a:xfrm>
            <a:off x="111513" y="764588"/>
            <a:ext cx="11485756" cy="888279"/>
          </a:xfrm>
        </p:spPr>
        <p:txBody>
          <a:bodyPr>
            <a:normAutofit/>
          </a:bodyPr>
          <a:lstStyle/>
          <a:p>
            <a:r>
              <a:rPr lang="en-US" sz="2800" i="1" dirty="0">
                <a:solidFill>
                  <a:schemeClr val="accent2"/>
                </a:solidFill>
                <a:latin typeface="Times New Roman" panose="02020603050405020304" pitchFamily="18" charset="0"/>
                <a:cs typeface="Times New Roman" panose="02020603050405020304" pitchFamily="18" charset="0"/>
              </a:rPr>
              <a:t>Dummy or indicator features for categorical variables</a:t>
            </a:r>
            <a:br>
              <a:rPr lang="en-US" sz="2800" dirty="0"/>
            </a:br>
            <a:endParaRPr lang="en-IN" sz="2800" dirty="0"/>
          </a:p>
        </p:txBody>
      </p:sp>
      <p:sp>
        <p:nvSpPr>
          <p:cNvPr id="4" name="Title 1">
            <a:extLst>
              <a:ext uri="{FF2B5EF4-FFF2-40B4-BE49-F238E27FC236}">
                <a16:creationId xmlns:a16="http://schemas.microsoft.com/office/drawing/2014/main" id="{B87AB9B7-0FD5-D561-72E1-22035E3062EB}"/>
              </a:ext>
            </a:extLst>
          </p:cNvPr>
          <p:cNvSpPr txBox="1">
            <a:spLocks/>
          </p:cNvSpPr>
          <p:nvPr/>
        </p:nvSpPr>
        <p:spPr>
          <a:xfrm>
            <a:off x="0" y="1"/>
            <a:ext cx="6949699" cy="888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Data Visualization</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AE20E47A-5978-9F57-D48E-9145C9F92A05}"/>
              </a:ext>
            </a:extLst>
          </p:cNvPr>
          <p:cNvSpPr txBox="1">
            <a:spLocks/>
          </p:cNvSpPr>
          <p:nvPr/>
        </p:nvSpPr>
        <p:spPr>
          <a:xfrm>
            <a:off x="241609" y="1540323"/>
            <a:ext cx="117087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sz="2400" dirty="0">
              <a:solidFill>
                <a:schemeClr val="accent2"/>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7953F124-C7F3-C81E-2AF4-7648403DAB97}"/>
              </a:ext>
            </a:extLst>
          </p:cNvPr>
          <p:cNvSpPr txBox="1">
            <a:spLocks/>
          </p:cNvSpPr>
          <p:nvPr/>
        </p:nvSpPr>
        <p:spPr>
          <a:xfrm>
            <a:off x="0" y="1360447"/>
            <a:ext cx="12192000" cy="5500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200" dirty="0">
                <a:latin typeface="Times New Roman" panose="02020603050405020304" pitchFamily="18" charset="0"/>
                <a:cs typeface="Times New Roman" panose="02020603050405020304" pitchFamily="18" charset="0"/>
              </a:rPr>
              <a:t>This technique is used to convert the categorical variables into numeric values. </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marL="0" indent="0" algn="just">
              <a:buNone/>
            </a:pPr>
            <a:endParaRPr lang="en-IN"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CD64840-F27E-4AB5-5B0A-CCB9A42CACBD}"/>
              </a:ext>
            </a:extLst>
          </p:cNvPr>
          <p:cNvPicPr>
            <a:picLocks noChangeAspect="1"/>
          </p:cNvPicPr>
          <p:nvPr/>
        </p:nvPicPr>
        <p:blipFill>
          <a:blip r:embed="rId2"/>
          <a:stretch>
            <a:fillRect/>
          </a:stretch>
        </p:blipFill>
        <p:spPr>
          <a:xfrm>
            <a:off x="411983" y="2521136"/>
            <a:ext cx="9828250" cy="2976417"/>
          </a:xfrm>
          <a:prstGeom prst="rect">
            <a:avLst/>
          </a:prstGeom>
        </p:spPr>
      </p:pic>
    </p:spTree>
    <p:extLst>
      <p:ext uri="{BB962C8B-B14F-4D97-AF65-F5344CB8AC3E}">
        <p14:creationId xmlns:p14="http://schemas.microsoft.com/office/powerpoint/2010/main" val="2711433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55C04-EF3F-1132-BB8C-D629D1140AC4}"/>
              </a:ext>
            </a:extLst>
          </p:cNvPr>
          <p:cNvSpPr>
            <a:spLocks noGrp="1"/>
          </p:cNvSpPr>
          <p:nvPr>
            <p:ph type="title"/>
          </p:nvPr>
        </p:nvSpPr>
        <p:spPr>
          <a:xfrm>
            <a:off x="0" y="18255"/>
            <a:ext cx="12192000" cy="985355"/>
          </a:xfrm>
        </p:spPr>
        <p:txBody>
          <a:bodyPr>
            <a:normAutofit/>
          </a:bodyPr>
          <a:lstStyle/>
          <a:p>
            <a:r>
              <a:rPr lang="en-IN" sz="4000" b="1" dirty="0">
                <a:latin typeface="Times New Roman" panose="02020603050405020304" pitchFamily="18" charset="0"/>
                <a:cs typeface="Times New Roman" panose="02020603050405020304" pitchFamily="18" charset="0"/>
              </a:rPr>
              <a:t>Feature Engineering </a:t>
            </a:r>
          </a:p>
        </p:txBody>
      </p:sp>
      <p:sp>
        <p:nvSpPr>
          <p:cNvPr id="3" name="Content Placeholder 2">
            <a:extLst>
              <a:ext uri="{FF2B5EF4-FFF2-40B4-BE49-F238E27FC236}">
                <a16:creationId xmlns:a16="http://schemas.microsoft.com/office/drawing/2014/main" id="{02F0F7F4-63A3-336D-BBE5-6DC52267BC29}"/>
              </a:ext>
            </a:extLst>
          </p:cNvPr>
          <p:cNvSpPr>
            <a:spLocks noGrp="1"/>
          </p:cNvSpPr>
          <p:nvPr>
            <p:ph idx="1"/>
          </p:nvPr>
        </p:nvSpPr>
        <p:spPr>
          <a:xfrm>
            <a:off x="136428" y="1076015"/>
            <a:ext cx="4803704" cy="4351338"/>
          </a:xfrm>
        </p:spPr>
        <p:txBody>
          <a:bodyPr>
            <a:normAutofit/>
          </a:bodyPr>
          <a:lstStyle/>
          <a:p>
            <a:pPr marL="0" indent="0" algn="just">
              <a:buNone/>
            </a:pPr>
            <a:r>
              <a:rPr lang="en-IN" sz="2000" dirty="0">
                <a:solidFill>
                  <a:schemeClr val="accent2"/>
                </a:solidFill>
                <a:latin typeface="Times New Roman" panose="02020603050405020304" pitchFamily="18" charset="0"/>
                <a:cs typeface="Times New Roman" panose="02020603050405020304" pitchFamily="18" charset="0"/>
              </a:rPr>
              <a:t>Feature engineering is the process of using domain knowledge to extract features from raw data via data mining techniques. These features can be used to improve the performance of machine learning algorithms. Feature engineering can be considered as applied machine learning itself. </a:t>
            </a:r>
          </a:p>
          <a:p>
            <a:pPr algn="just"/>
            <a:endParaRPr lang="en-IN" sz="2000" dirty="0">
              <a:solidFill>
                <a:schemeClr val="accent2"/>
              </a:solidFill>
            </a:endParaRPr>
          </a:p>
        </p:txBody>
      </p:sp>
      <p:pic>
        <p:nvPicPr>
          <p:cNvPr id="6" name="Picture 5">
            <a:extLst>
              <a:ext uri="{FF2B5EF4-FFF2-40B4-BE49-F238E27FC236}">
                <a16:creationId xmlns:a16="http://schemas.microsoft.com/office/drawing/2014/main" id="{4D3C7E09-CF64-2D71-07B4-1FE91697A87C}"/>
              </a:ext>
            </a:extLst>
          </p:cNvPr>
          <p:cNvPicPr>
            <a:picLocks noChangeAspect="1"/>
          </p:cNvPicPr>
          <p:nvPr/>
        </p:nvPicPr>
        <p:blipFill>
          <a:blip r:embed="rId2"/>
          <a:stretch>
            <a:fillRect/>
          </a:stretch>
        </p:blipFill>
        <p:spPr>
          <a:xfrm>
            <a:off x="5076559" y="128192"/>
            <a:ext cx="6801799" cy="6420746"/>
          </a:xfrm>
          <a:prstGeom prst="rect">
            <a:avLst/>
          </a:prstGeom>
        </p:spPr>
      </p:pic>
    </p:spTree>
    <p:extLst>
      <p:ext uri="{BB962C8B-B14F-4D97-AF65-F5344CB8AC3E}">
        <p14:creationId xmlns:p14="http://schemas.microsoft.com/office/powerpoint/2010/main" val="3582442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296DF-1770-78CB-2F78-68259AAB4B72}"/>
              </a:ext>
            </a:extLst>
          </p:cNvPr>
          <p:cNvSpPr>
            <a:spLocks noGrp="1"/>
          </p:cNvSpPr>
          <p:nvPr>
            <p:ph type="title"/>
          </p:nvPr>
        </p:nvSpPr>
        <p:spPr>
          <a:xfrm>
            <a:off x="0" y="18255"/>
            <a:ext cx="10515600" cy="1063413"/>
          </a:xfrm>
        </p:spPr>
        <p:txBody>
          <a:bodyPr/>
          <a:lstStyle/>
          <a:p>
            <a:r>
              <a:rPr lang="en-IN" b="1" dirty="0">
                <a:latin typeface="Times New Roman" panose="02020603050405020304" pitchFamily="18" charset="0"/>
                <a:cs typeface="Times New Roman" panose="02020603050405020304" pitchFamily="18" charset="0"/>
              </a:rPr>
              <a:t>Machine Learning Algorithm </a:t>
            </a:r>
          </a:p>
        </p:txBody>
      </p:sp>
      <p:sp>
        <p:nvSpPr>
          <p:cNvPr id="3" name="Content Placeholder 2">
            <a:extLst>
              <a:ext uri="{FF2B5EF4-FFF2-40B4-BE49-F238E27FC236}">
                <a16:creationId xmlns:a16="http://schemas.microsoft.com/office/drawing/2014/main" id="{13605D36-7B2D-9AE7-4435-A37EBEFD5A3F}"/>
              </a:ext>
            </a:extLst>
          </p:cNvPr>
          <p:cNvSpPr>
            <a:spLocks noGrp="1"/>
          </p:cNvSpPr>
          <p:nvPr>
            <p:ph idx="1"/>
          </p:nvPr>
        </p:nvSpPr>
        <p:spPr>
          <a:xfrm>
            <a:off x="147754" y="1081668"/>
            <a:ext cx="11718073" cy="5456121"/>
          </a:xfrm>
        </p:spPr>
        <p:txBody>
          <a:bodyPr>
            <a:normAutofit lnSpcReduction="10000"/>
          </a:bodyPr>
          <a:lstStyle/>
          <a:p>
            <a:pPr algn="just"/>
            <a:r>
              <a:rPr lang="en-IN" sz="2200" dirty="0">
                <a:latin typeface="Times" panose="02020603050405020304" pitchFamily="18" charset="0"/>
                <a:cs typeface="Times" panose="02020603050405020304" pitchFamily="18" charset="0"/>
              </a:rPr>
              <a:t>We set the independent and target variables as X and Y respectively.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Split the dataset into training and testing set in 80:20 ratio.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Fitting the train set to multiple models </a:t>
            </a:r>
            <a:r>
              <a:rPr lang="en-IN" sz="2200" b="1" dirty="0">
                <a:latin typeface="Times" panose="02020603050405020304" pitchFamily="18" charset="0"/>
                <a:cs typeface="Times" panose="02020603050405020304" pitchFamily="18" charset="0"/>
              </a:rPr>
              <a:t>(Logistic Regression, Random Forest, K nearest neighbours) </a:t>
            </a:r>
            <a:r>
              <a:rPr lang="en-IN" sz="2200" dirty="0">
                <a:latin typeface="Times" panose="02020603050405020304" pitchFamily="18" charset="0"/>
                <a:cs typeface="Times" panose="02020603050405020304" pitchFamily="18" charset="0"/>
              </a:rPr>
              <a:t>and getting the score on test set.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Calculated the Precision, Recall, F1 Score and accuracy score and compared the same for each model.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Calculated the mean of Cross-Validation score for training and test set and compared the same for each model. </a:t>
            </a:r>
          </a:p>
          <a:p>
            <a:pPr algn="just"/>
            <a:endParaRPr lang="en-IN" sz="2200" dirty="0">
              <a:latin typeface="Times" panose="02020603050405020304" pitchFamily="18" charset="0"/>
              <a:cs typeface="Times" panose="02020603050405020304" pitchFamily="18" charset="0"/>
            </a:endParaRPr>
          </a:p>
          <a:p>
            <a:pPr algn="just"/>
            <a:r>
              <a:rPr lang="en-IN" sz="2200" dirty="0">
                <a:latin typeface="Times" panose="02020603050405020304" pitchFamily="18" charset="0"/>
                <a:cs typeface="Times" panose="02020603050405020304" pitchFamily="18" charset="0"/>
              </a:rPr>
              <a:t>Lastly completed the modelling </a:t>
            </a:r>
            <a:r>
              <a:rPr lang="en-US" sz="2200" dirty="0">
                <a:latin typeface="Times" panose="02020603050405020304" pitchFamily="18" charset="0"/>
                <a:cs typeface="Times" panose="02020603050405020304" pitchFamily="18" charset="0"/>
              </a:rPr>
              <a:t>by applying Random Search and Grid Search for Hyperparameter tuning</a:t>
            </a:r>
            <a:endParaRPr lang="en-IN" sz="2200" dirty="0">
              <a:latin typeface="Times" panose="02020603050405020304" pitchFamily="18" charset="0"/>
              <a:cs typeface="Times"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568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94D05-62CA-C8CD-F09C-BDB1D9E00228}"/>
              </a:ext>
            </a:extLst>
          </p:cNvPr>
          <p:cNvSpPr>
            <a:spLocks noGrp="1"/>
          </p:cNvSpPr>
          <p:nvPr>
            <p:ph type="title"/>
          </p:nvPr>
        </p:nvSpPr>
        <p:spPr/>
        <p:txBody>
          <a:bodyPr>
            <a:normAutofit/>
          </a:bodyPr>
          <a:lstStyle/>
          <a:p>
            <a:r>
              <a:rPr lang="en-US" sz="4000" b="1" dirty="0">
                <a:latin typeface="Times" panose="02020603050405020304" pitchFamily="18" charset="0"/>
                <a:cs typeface="Times" panose="02020603050405020304" pitchFamily="18" charset="0"/>
              </a:rPr>
              <a:t>Handling Class Imbalance using SMOTENC</a:t>
            </a:r>
            <a:br>
              <a:rPr lang="en-US" dirty="0"/>
            </a:br>
            <a:endParaRPr lang="en-IN" dirty="0"/>
          </a:p>
        </p:txBody>
      </p:sp>
      <p:pic>
        <p:nvPicPr>
          <p:cNvPr id="5" name="Content Placeholder 4">
            <a:extLst>
              <a:ext uri="{FF2B5EF4-FFF2-40B4-BE49-F238E27FC236}">
                <a16:creationId xmlns:a16="http://schemas.microsoft.com/office/drawing/2014/main" id="{72DC7397-F35B-165C-3519-1113C0BF7E27}"/>
              </a:ext>
            </a:extLst>
          </p:cNvPr>
          <p:cNvPicPr>
            <a:picLocks noGrp="1" noChangeAspect="1"/>
          </p:cNvPicPr>
          <p:nvPr>
            <p:ph idx="1"/>
          </p:nvPr>
        </p:nvPicPr>
        <p:blipFill>
          <a:blip r:embed="rId2"/>
          <a:stretch>
            <a:fillRect/>
          </a:stretch>
        </p:blipFill>
        <p:spPr>
          <a:xfrm>
            <a:off x="2560428" y="2702207"/>
            <a:ext cx="7754432" cy="3172268"/>
          </a:xfrm>
          <a:prstGeom prst="rect">
            <a:avLst/>
          </a:prstGeom>
        </p:spPr>
      </p:pic>
      <p:sp>
        <p:nvSpPr>
          <p:cNvPr id="6" name="TextBox 5">
            <a:extLst>
              <a:ext uri="{FF2B5EF4-FFF2-40B4-BE49-F238E27FC236}">
                <a16:creationId xmlns:a16="http://schemas.microsoft.com/office/drawing/2014/main" id="{19D53738-850F-6BC7-E320-AEB3E6DA6B37}"/>
              </a:ext>
            </a:extLst>
          </p:cNvPr>
          <p:cNvSpPr txBox="1"/>
          <p:nvPr/>
        </p:nvSpPr>
        <p:spPr>
          <a:xfrm>
            <a:off x="301452" y="1224879"/>
            <a:ext cx="11585748" cy="1477328"/>
          </a:xfrm>
          <a:prstGeom prst="rect">
            <a:avLst/>
          </a:prstGeom>
          <a:noFill/>
        </p:spPr>
        <p:txBody>
          <a:bodyPr wrap="square" rtlCol="0">
            <a:spAutoFit/>
          </a:bodyPr>
          <a:lstStyle/>
          <a:p>
            <a:r>
              <a:rPr lang="en-US" dirty="0"/>
              <a:t>The dataset shows class imbalance in the target variable (Heart Disease Status). To address this issue, we apply SMOTENC (Synthetic Minority Oversampling Technique for Nominal and Continuous features).</a:t>
            </a:r>
          </a:p>
          <a:p>
            <a:endParaRPr lang="en-US" dirty="0"/>
          </a:p>
          <a:p>
            <a:r>
              <a:rPr lang="en-US" dirty="0"/>
              <a:t>SMOTENC is specifically used because the dataset contains both categorical and numerical features.</a:t>
            </a:r>
          </a:p>
          <a:p>
            <a:endParaRPr lang="en-IN" dirty="0"/>
          </a:p>
        </p:txBody>
      </p:sp>
    </p:spTree>
    <p:extLst>
      <p:ext uri="{BB962C8B-B14F-4D97-AF65-F5344CB8AC3E}">
        <p14:creationId xmlns:p14="http://schemas.microsoft.com/office/powerpoint/2010/main" val="4138962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5C9EB-3122-EB0D-F83D-3A8B83657D73}"/>
              </a:ext>
            </a:extLst>
          </p:cNvPr>
          <p:cNvSpPr>
            <a:spLocks noGrp="1"/>
          </p:cNvSpPr>
          <p:nvPr>
            <p:ph type="title"/>
          </p:nvPr>
        </p:nvSpPr>
        <p:spPr>
          <a:xfrm>
            <a:off x="275492" y="224448"/>
            <a:ext cx="10515600" cy="1325563"/>
          </a:xfrm>
        </p:spPr>
        <p:txBody>
          <a:bodyPr/>
          <a:lstStyle/>
          <a:p>
            <a:r>
              <a:rPr lang="en-US" b="1" dirty="0">
                <a:latin typeface="Times" panose="02020603050405020304" pitchFamily="18" charset="0"/>
                <a:cs typeface="Times" panose="02020603050405020304" pitchFamily="18" charset="0"/>
              </a:rPr>
              <a:t>Feature Importance from Random Forest</a:t>
            </a:r>
            <a:br>
              <a:rPr lang="en-US" dirty="0"/>
            </a:br>
            <a:endParaRPr lang="en-IN" dirty="0"/>
          </a:p>
        </p:txBody>
      </p:sp>
      <p:sp>
        <p:nvSpPr>
          <p:cNvPr id="3" name="Content Placeholder 2">
            <a:extLst>
              <a:ext uri="{FF2B5EF4-FFF2-40B4-BE49-F238E27FC236}">
                <a16:creationId xmlns:a16="http://schemas.microsoft.com/office/drawing/2014/main" id="{B8CF1E7E-D8DB-BF56-2AC1-7B5B8A0C420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24D8F9F-9BC3-3312-02D8-964C05F30D59}"/>
              </a:ext>
            </a:extLst>
          </p:cNvPr>
          <p:cNvPicPr>
            <a:picLocks noChangeAspect="1"/>
          </p:cNvPicPr>
          <p:nvPr/>
        </p:nvPicPr>
        <p:blipFill>
          <a:blip r:embed="rId2"/>
          <a:stretch>
            <a:fillRect/>
          </a:stretch>
        </p:blipFill>
        <p:spPr>
          <a:xfrm>
            <a:off x="2460926" y="1046584"/>
            <a:ext cx="8641665" cy="5205928"/>
          </a:xfrm>
          <a:prstGeom prst="rect">
            <a:avLst/>
          </a:prstGeom>
        </p:spPr>
      </p:pic>
    </p:spTree>
    <p:extLst>
      <p:ext uri="{BB962C8B-B14F-4D97-AF65-F5344CB8AC3E}">
        <p14:creationId xmlns:p14="http://schemas.microsoft.com/office/powerpoint/2010/main" val="3004754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C1FE1-186F-DAD4-E54B-F859B0EE3755}"/>
              </a:ext>
            </a:extLst>
          </p:cNvPr>
          <p:cNvSpPr>
            <a:spLocks noGrp="1"/>
          </p:cNvSpPr>
          <p:nvPr>
            <p:ph idx="1"/>
          </p:nvPr>
        </p:nvSpPr>
        <p:spPr>
          <a:xfrm>
            <a:off x="146824" y="918794"/>
            <a:ext cx="9498981" cy="4351338"/>
          </a:xfrm>
        </p:spPr>
        <p:txBody>
          <a:bodyPr/>
          <a:lstStyle/>
          <a:p>
            <a:pPr marL="0" indent="0">
              <a:buNone/>
            </a:pPr>
            <a:r>
              <a:rPr lang="en-IN" dirty="0">
                <a:solidFill>
                  <a:schemeClr val="accent2"/>
                </a:solidFill>
                <a:latin typeface="Times" panose="02020603050405020304" pitchFamily="18" charset="0"/>
                <a:cs typeface="Times" panose="02020603050405020304" pitchFamily="18" charset="0"/>
              </a:rPr>
              <a:t>Random Forest confusion matric and classification report </a:t>
            </a:r>
          </a:p>
        </p:txBody>
      </p:sp>
      <p:sp>
        <p:nvSpPr>
          <p:cNvPr id="6" name="Title 1">
            <a:extLst>
              <a:ext uri="{FF2B5EF4-FFF2-40B4-BE49-F238E27FC236}">
                <a16:creationId xmlns:a16="http://schemas.microsoft.com/office/drawing/2014/main" id="{DBC4BBD2-5B96-2BFB-28B2-EE8FE46F6ECD}"/>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Machine Learning Algorithm </a:t>
            </a:r>
          </a:p>
        </p:txBody>
      </p:sp>
      <p:pic>
        <p:nvPicPr>
          <p:cNvPr id="4" name="Picture 3">
            <a:extLst>
              <a:ext uri="{FF2B5EF4-FFF2-40B4-BE49-F238E27FC236}">
                <a16:creationId xmlns:a16="http://schemas.microsoft.com/office/drawing/2014/main" id="{F26B132D-E3A9-88FD-E811-274CC38C1241}"/>
              </a:ext>
            </a:extLst>
          </p:cNvPr>
          <p:cNvPicPr>
            <a:picLocks noChangeAspect="1"/>
          </p:cNvPicPr>
          <p:nvPr/>
        </p:nvPicPr>
        <p:blipFill>
          <a:blip r:embed="rId2"/>
          <a:stretch>
            <a:fillRect/>
          </a:stretch>
        </p:blipFill>
        <p:spPr>
          <a:xfrm>
            <a:off x="5797822" y="2047623"/>
            <a:ext cx="6044844" cy="4426055"/>
          </a:xfrm>
          <a:prstGeom prst="rect">
            <a:avLst/>
          </a:prstGeom>
        </p:spPr>
      </p:pic>
      <p:pic>
        <p:nvPicPr>
          <p:cNvPr id="9" name="Picture 8">
            <a:extLst>
              <a:ext uri="{FF2B5EF4-FFF2-40B4-BE49-F238E27FC236}">
                <a16:creationId xmlns:a16="http://schemas.microsoft.com/office/drawing/2014/main" id="{5D1CB7A8-8FE6-5686-F298-B63DE4583D67}"/>
              </a:ext>
            </a:extLst>
          </p:cNvPr>
          <p:cNvPicPr>
            <a:picLocks noChangeAspect="1"/>
          </p:cNvPicPr>
          <p:nvPr/>
        </p:nvPicPr>
        <p:blipFill>
          <a:blip r:embed="rId3"/>
          <a:stretch>
            <a:fillRect/>
          </a:stretch>
        </p:blipFill>
        <p:spPr>
          <a:xfrm>
            <a:off x="159615" y="2961800"/>
            <a:ext cx="5564795" cy="2597699"/>
          </a:xfrm>
          <a:prstGeom prst="rect">
            <a:avLst/>
          </a:prstGeom>
        </p:spPr>
      </p:pic>
    </p:spTree>
    <p:extLst>
      <p:ext uri="{BB962C8B-B14F-4D97-AF65-F5344CB8AC3E}">
        <p14:creationId xmlns:p14="http://schemas.microsoft.com/office/powerpoint/2010/main" val="440675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F261920-E3B4-338F-2F09-DFFE2099FF1F}"/>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latin typeface="Times New Roman" panose="02020603050405020304" pitchFamily="18" charset="0"/>
                <a:cs typeface="Times New Roman" panose="02020603050405020304" pitchFamily="18" charset="0"/>
              </a:rPr>
              <a:t>Machine Learning Algorithm </a:t>
            </a:r>
            <a:endParaRPr lang="en-IN"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8F44BBFD-ECF0-02DB-56DB-6C11D2B0047B}"/>
              </a:ext>
            </a:extLst>
          </p:cNvPr>
          <p:cNvSpPr txBox="1">
            <a:spLocks/>
          </p:cNvSpPr>
          <p:nvPr/>
        </p:nvSpPr>
        <p:spPr>
          <a:xfrm>
            <a:off x="146824" y="918794"/>
            <a:ext cx="94989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chemeClr val="accent2"/>
                </a:solidFill>
                <a:latin typeface="Times" panose="02020603050405020304" pitchFamily="18" charset="0"/>
                <a:cs typeface="Times" panose="02020603050405020304" pitchFamily="18" charset="0"/>
              </a:rPr>
              <a:t>Comparison of Algorithms</a:t>
            </a:r>
          </a:p>
        </p:txBody>
      </p:sp>
      <p:pic>
        <p:nvPicPr>
          <p:cNvPr id="3" name="Picture 2">
            <a:extLst>
              <a:ext uri="{FF2B5EF4-FFF2-40B4-BE49-F238E27FC236}">
                <a16:creationId xmlns:a16="http://schemas.microsoft.com/office/drawing/2014/main" id="{292C7223-E9B3-6758-77DE-FEEBE400A845}"/>
              </a:ext>
            </a:extLst>
          </p:cNvPr>
          <p:cNvPicPr>
            <a:picLocks noChangeAspect="1"/>
          </p:cNvPicPr>
          <p:nvPr/>
        </p:nvPicPr>
        <p:blipFill>
          <a:blip r:embed="rId2"/>
          <a:stretch>
            <a:fillRect/>
          </a:stretch>
        </p:blipFill>
        <p:spPr>
          <a:xfrm>
            <a:off x="916938" y="1895580"/>
            <a:ext cx="10116962" cy="4944165"/>
          </a:xfrm>
          <a:prstGeom prst="rect">
            <a:avLst/>
          </a:prstGeom>
        </p:spPr>
      </p:pic>
      <p:pic>
        <p:nvPicPr>
          <p:cNvPr id="8" name="Picture 7">
            <a:extLst>
              <a:ext uri="{FF2B5EF4-FFF2-40B4-BE49-F238E27FC236}">
                <a16:creationId xmlns:a16="http://schemas.microsoft.com/office/drawing/2014/main" id="{A6E8BE58-C2B8-5C1B-B091-71E5E9041A58}"/>
              </a:ext>
            </a:extLst>
          </p:cNvPr>
          <p:cNvPicPr>
            <a:picLocks noChangeAspect="1"/>
          </p:cNvPicPr>
          <p:nvPr/>
        </p:nvPicPr>
        <p:blipFill>
          <a:blip r:embed="rId3"/>
          <a:stretch>
            <a:fillRect/>
          </a:stretch>
        </p:blipFill>
        <p:spPr>
          <a:xfrm>
            <a:off x="7164475" y="508442"/>
            <a:ext cx="4880701" cy="1201963"/>
          </a:xfrm>
          <a:prstGeom prst="rect">
            <a:avLst/>
          </a:prstGeom>
        </p:spPr>
      </p:pic>
    </p:spTree>
    <p:extLst>
      <p:ext uri="{BB962C8B-B14F-4D97-AF65-F5344CB8AC3E}">
        <p14:creationId xmlns:p14="http://schemas.microsoft.com/office/powerpoint/2010/main" val="1728106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C10483F-8CDC-A139-6F24-5706BD05925A}"/>
              </a:ext>
            </a:extLst>
          </p:cNvPr>
          <p:cNvSpPr txBox="1">
            <a:spLocks/>
          </p:cNvSpPr>
          <p:nvPr/>
        </p:nvSpPr>
        <p:spPr>
          <a:xfrm>
            <a:off x="0" y="18255"/>
            <a:ext cx="10515600" cy="1063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Random Search Cross Validation </a:t>
            </a:r>
          </a:p>
        </p:txBody>
      </p:sp>
      <p:sp>
        <p:nvSpPr>
          <p:cNvPr id="11" name="Content Placeholder 2">
            <a:extLst>
              <a:ext uri="{FF2B5EF4-FFF2-40B4-BE49-F238E27FC236}">
                <a16:creationId xmlns:a16="http://schemas.microsoft.com/office/drawing/2014/main" id="{2AFC1ED7-5B23-ABEA-C651-3298419E830E}"/>
              </a:ext>
            </a:extLst>
          </p:cNvPr>
          <p:cNvSpPr txBox="1">
            <a:spLocks/>
          </p:cNvSpPr>
          <p:nvPr/>
        </p:nvSpPr>
        <p:spPr>
          <a:xfrm>
            <a:off x="155000" y="2184400"/>
            <a:ext cx="10932099" cy="6145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Parameter tuning for Random Forest: Best parameters came out to be: </a:t>
            </a:r>
          </a:p>
        </p:txBody>
      </p:sp>
      <p:sp>
        <p:nvSpPr>
          <p:cNvPr id="12" name="Content Placeholder 2">
            <a:extLst>
              <a:ext uri="{FF2B5EF4-FFF2-40B4-BE49-F238E27FC236}">
                <a16:creationId xmlns:a16="http://schemas.microsoft.com/office/drawing/2014/main" id="{BA709BF4-EEE4-7B29-AD02-63673C9474E9}"/>
              </a:ext>
            </a:extLst>
          </p:cNvPr>
          <p:cNvSpPr txBox="1">
            <a:spLocks/>
          </p:cNvSpPr>
          <p:nvPr/>
        </p:nvSpPr>
        <p:spPr>
          <a:xfrm>
            <a:off x="155000" y="4028454"/>
            <a:ext cx="10368776" cy="1105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Model Metrics for Random forest after fitting the best parameters obtained from Random Search  </a:t>
            </a:r>
          </a:p>
        </p:txBody>
      </p:sp>
      <p:sp>
        <p:nvSpPr>
          <p:cNvPr id="13" name="Content Placeholder 2">
            <a:extLst>
              <a:ext uri="{FF2B5EF4-FFF2-40B4-BE49-F238E27FC236}">
                <a16:creationId xmlns:a16="http://schemas.microsoft.com/office/drawing/2014/main" id="{540BCA22-031F-BF3F-43AF-4227B2B7A553}"/>
              </a:ext>
            </a:extLst>
          </p:cNvPr>
          <p:cNvSpPr txBox="1">
            <a:spLocks/>
          </p:cNvSpPr>
          <p:nvPr/>
        </p:nvSpPr>
        <p:spPr>
          <a:xfrm>
            <a:off x="155000" y="1214426"/>
            <a:ext cx="11910000" cy="614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accent2"/>
                </a:solidFill>
                <a:latin typeface="Times" panose="02020603050405020304" pitchFamily="18" charset="0"/>
                <a:cs typeface="Times" panose="02020603050405020304" pitchFamily="18" charset="0"/>
              </a:rPr>
              <a:t>This is a techniques used to find the best parameters for our machine learning model.</a:t>
            </a:r>
          </a:p>
          <a:p>
            <a:pPr marL="0" indent="0">
              <a:buNone/>
            </a:pPr>
            <a:endParaRPr lang="en-IN" dirty="0">
              <a:solidFill>
                <a:schemeClr val="accent2"/>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6AA456AE-A2C7-9894-82F4-36E69EBB8684}"/>
              </a:ext>
            </a:extLst>
          </p:cNvPr>
          <p:cNvPicPr>
            <a:picLocks noChangeAspect="1"/>
          </p:cNvPicPr>
          <p:nvPr/>
        </p:nvPicPr>
        <p:blipFill>
          <a:blip r:embed="rId2"/>
          <a:stretch>
            <a:fillRect/>
          </a:stretch>
        </p:blipFill>
        <p:spPr>
          <a:xfrm>
            <a:off x="284475" y="2910236"/>
            <a:ext cx="10504991" cy="518764"/>
          </a:xfrm>
          <a:prstGeom prst="rect">
            <a:avLst/>
          </a:prstGeom>
        </p:spPr>
      </p:pic>
      <p:pic>
        <p:nvPicPr>
          <p:cNvPr id="5" name="Picture 4">
            <a:extLst>
              <a:ext uri="{FF2B5EF4-FFF2-40B4-BE49-F238E27FC236}">
                <a16:creationId xmlns:a16="http://schemas.microsoft.com/office/drawing/2014/main" id="{73577A19-5BCC-1997-782F-F7A65018AE90}"/>
              </a:ext>
            </a:extLst>
          </p:cNvPr>
          <p:cNvPicPr>
            <a:picLocks noChangeAspect="1"/>
          </p:cNvPicPr>
          <p:nvPr/>
        </p:nvPicPr>
        <p:blipFill>
          <a:blip r:embed="rId3"/>
          <a:stretch>
            <a:fillRect/>
          </a:stretch>
        </p:blipFill>
        <p:spPr>
          <a:xfrm>
            <a:off x="5396329" y="4533570"/>
            <a:ext cx="4315427" cy="2038635"/>
          </a:xfrm>
          <a:prstGeom prst="rect">
            <a:avLst/>
          </a:prstGeom>
        </p:spPr>
      </p:pic>
    </p:spTree>
    <p:extLst>
      <p:ext uri="{BB962C8B-B14F-4D97-AF65-F5344CB8AC3E}">
        <p14:creationId xmlns:p14="http://schemas.microsoft.com/office/powerpoint/2010/main" val="3904997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F1F9-F8F0-7ACC-40D8-9093F988528A}"/>
              </a:ext>
            </a:extLst>
          </p:cNvPr>
          <p:cNvSpPr>
            <a:spLocks noGrp="1"/>
          </p:cNvSpPr>
          <p:nvPr>
            <p:ph type="title"/>
          </p:nvPr>
        </p:nvSpPr>
        <p:spPr>
          <a:xfrm>
            <a:off x="0" y="307419"/>
            <a:ext cx="10515600" cy="600075"/>
          </a:xfrm>
        </p:spPr>
        <p:txBody>
          <a:bodyPr>
            <a:normAutofit fontScale="90000"/>
          </a:bodyPr>
          <a:lstStyle/>
          <a:p>
            <a:r>
              <a:rPr lang="en-US" b="1" dirty="0">
                <a:latin typeface="Times" panose="02020603050405020304" pitchFamily="18" charset="0"/>
                <a:cs typeface="Times" panose="02020603050405020304" pitchFamily="18" charset="0"/>
              </a:rPr>
              <a:t>Key Findings from the Project</a:t>
            </a:r>
            <a:br>
              <a:rPr lang="en-US" b="1" dirty="0"/>
            </a:br>
            <a:endParaRPr lang="en-IN" dirty="0"/>
          </a:p>
        </p:txBody>
      </p:sp>
      <p:sp>
        <p:nvSpPr>
          <p:cNvPr id="3" name="Content Placeholder 2">
            <a:extLst>
              <a:ext uri="{FF2B5EF4-FFF2-40B4-BE49-F238E27FC236}">
                <a16:creationId xmlns:a16="http://schemas.microsoft.com/office/drawing/2014/main" id="{052CCA7C-AF75-663B-BA5B-169F25AF7861}"/>
              </a:ext>
            </a:extLst>
          </p:cNvPr>
          <p:cNvSpPr>
            <a:spLocks noGrp="1"/>
          </p:cNvSpPr>
          <p:nvPr>
            <p:ph idx="1"/>
          </p:nvPr>
        </p:nvSpPr>
        <p:spPr>
          <a:xfrm>
            <a:off x="78059" y="907494"/>
            <a:ext cx="11987561" cy="5549062"/>
          </a:xfrm>
        </p:spPr>
        <p:txBody>
          <a:bodyPr>
            <a:normAutofit fontScale="62500" lnSpcReduction="20000"/>
          </a:bodyPr>
          <a:lstStyle/>
          <a:p>
            <a:pPr marL="0" indent="0">
              <a:buNone/>
            </a:pPr>
            <a:r>
              <a:rPr lang="en-US" b="1" dirty="0">
                <a:latin typeface="Times" panose="02020603050405020304" pitchFamily="18" charset="0"/>
                <a:cs typeface="Times" panose="02020603050405020304" pitchFamily="18" charset="0"/>
              </a:rPr>
              <a:t>Data &amp; Feature Insights</a:t>
            </a:r>
            <a:endParaRPr lang="en-US" dirty="0">
              <a:latin typeface="Times" panose="02020603050405020304" pitchFamily="18" charset="0"/>
              <a:cs typeface="Times" panose="02020603050405020304" pitchFamily="18" charset="0"/>
            </a:endParaRPr>
          </a:p>
          <a:p>
            <a:r>
              <a:rPr lang="en-US" dirty="0">
                <a:latin typeface="Times" panose="02020603050405020304" pitchFamily="18" charset="0"/>
                <a:cs typeface="Times" panose="02020603050405020304" pitchFamily="18" charset="0"/>
              </a:rPr>
              <a:t>Patient data revealed certain features like </a:t>
            </a:r>
            <a:r>
              <a:rPr lang="en-US" b="1" dirty="0">
                <a:latin typeface="Times" panose="02020603050405020304" pitchFamily="18" charset="0"/>
                <a:cs typeface="Times" panose="02020603050405020304" pitchFamily="18" charset="0"/>
              </a:rPr>
              <a:t>age, cholesterol, blood pressure, and max heart rate</a:t>
            </a:r>
            <a:r>
              <a:rPr lang="en-US" dirty="0">
                <a:latin typeface="Times" panose="02020603050405020304" pitchFamily="18" charset="0"/>
                <a:cs typeface="Times" panose="02020603050405020304" pitchFamily="18" charset="0"/>
              </a:rPr>
              <a:t> had the strongest correlation with heart disease.</a:t>
            </a:r>
          </a:p>
          <a:p>
            <a:r>
              <a:rPr lang="en-US" b="1" dirty="0">
                <a:latin typeface="Times" panose="02020603050405020304" pitchFamily="18" charset="0"/>
                <a:cs typeface="Times" panose="02020603050405020304" pitchFamily="18" charset="0"/>
              </a:rPr>
              <a:t>Lifestyle factors</a:t>
            </a:r>
            <a:r>
              <a:rPr lang="en-US" dirty="0">
                <a:latin typeface="Times" panose="02020603050405020304" pitchFamily="18" charset="0"/>
                <a:cs typeface="Times" panose="02020603050405020304" pitchFamily="18" charset="0"/>
              </a:rPr>
              <a:t> (smoking, physical activity, BMI) and </a:t>
            </a:r>
            <a:r>
              <a:rPr lang="en-US" b="1" dirty="0">
                <a:latin typeface="Times" panose="02020603050405020304" pitchFamily="18" charset="0"/>
                <a:cs typeface="Times" panose="02020603050405020304" pitchFamily="18" charset="0"/>
              </a:rPr>
              <a:t>family history</a:t>
            </a:r>
            <a:r>
              <a:rPr lang="en-US" dirty="0">
                <a:latin typeface="Times" panose="02020603050405020304" pitchFamily="18" charset="0"/>
                <a:cs typeface="Times" panose="02020603050405020304" pitchFamily="18" charset="0"/>
              </a:rPr>
              <a:t> also significantly influenced risk.</a:t>
            </a:r>
          </a:p>
          <a:p>
            <a:r>
              <a:rPr lang="en-US" dirty="0">
                <a:latin typeface="Times" panose="02020603050405020304" pitchFamily="18" charset="0"/>
                <a:cs typeface="Times" panose="02020603050405020304" pitchFamily="18" charset="0"/>
              </a:rPr>
              <a:t>Some features exhibited skewed distributions (e.g., cholesterol levels), requiring normalization for modeling.</a:t>
            </a:r>
          </a:p>
          <a:p>
            <a:endParaRPr lang="en-US" dirty="0">
              <a:latin typeface="Times" panose="02020603050405020304" pitchFamily="18" charset="0"/>
              <a:cs typeface="Times" panose="02020603050405020304" pitchFamily="18" charset="0"/>
            </a:endParaRPr>
          </a:p>
          <a:p>
            <a:pPr marL="0" indent="0">
              <a:buNone/>
            </a:pPr>
            <a:r>
              <a:rPr lang="en-US" b="1" dirty="0">
                <a:latin typeface="Times" panose="02020603050405020304" pitchFamily="18" charset="0"/>
                <a:cs typeface="Times" panose="02020603050405020304" pitchFamily="18" charset="0"/>
              </a:rPr>
              <a:t>Model Performance Insights</a:t>
            </a:r>
            <a:endParaRPr lang="en-US" dirty="0">
              <a:latin typeface="Times" panose="02020603050405020304" pitchFamily="18" charset="0"/>
              <a:cs typeface="Times" panose="02020603050405020304" pitchFamily="18" charset="0"/>
            </a:endParaRPr>
          </a:p>
          <a:p>
            <a:r>
              <a:rPr lang="en-US" b="1" dirty="0">
                <a:latin typeface="Times" panose="02020603050405020304" pitchFamily="18" charset="0"/>
                <a:cs typeface="Times" panose="02020603050405020304" pitchFamily="18" charset="0"/>
              </a:rPr>
              <a:t>Linear models</a:t>
            </a:r>
            <a:r>
              <a:rPr lang="en-US" dirty="0">
                <a:latin typeface="Times" panose="02020603050405020304" pitchFamily="18" charset="0"/>
                <a:cs typeface="Times" panose="02020603050405020304" pitchFamily="18" charset="0"/>
              </a:rPr>
              <a:t> (Logistic Regression) showed moderate accuracy (~0.52), struggling with non-linear interactions between risk factors.</a:t>
            </a:r>
          </a:p>
          <a:p>
            <a:r>
              <a:rPr lang="en-US" b="1" dirty="0">
                <a:latin typeface="Times" panose="02020603050405020304" pitchFamily="18" charset="0"/>
                <a:cs typeface="Times" panose="02020603050405020304" pitchFamily="18" charset="0"/>
              </a:rPr>
              <a:t>Ensemble models</a:t>
            </a:r>
            <a:r>
              <a:rPr lang="en-US" dirty="0">
                <a:latin typeface="Times" panose="02020603050405020304" pitchFamily="18" charset="0"/>
                <a:cs typeface="Times" panose="02020603050405020304" pitchFamily="18" charset="0"/>
              </a:rPr>
              <a:t> performed better:</a:t>
            </a:r>
          </a:p>
          <a:p>
            <a:pPr marL="457200" lvl="1" indent="0">
              <a:buNone/>
            </a:pPr>
            <a:r>
              <a:rPr lang="en-US" dirty="0">
                <a:latin typeface="Times" panose="02020603050405020304" pitchFamily="18" charset="0"/>
                <a:cs typeface="Times" panose="02020603050405020304" pitchFamily="18" charset="0"/>
              </a:rPr>
              <a:t>Random Forest Accuracy: 68</a:t>
            </a:r>
          </a:p>
          <a:p>
            <a:r>
              <a:rPr lang="en-US" dirty="0">
                <a:latin typeface="Times" panose="02020603050405020304" pitchFamily="18" charset="0"/>
                <a:cs typeface="Times" panose="02020603050405020304" pitchFamily="18" charset="0"/>
              </a:rPr>
              <a:t>Cross-validation indicated low variance, suggesting good generalization across patient subgroups.</a:t>
            </a:r>
          </a:p>
          <a:p>
            <a:endParaRPr lang="en-US" dirty="0">
              <a:latin typeface="Times" panose="02020603050405020304" pitchFamily="18" charset="0"/>
              <a:cs typeface="Times" panose="02020603050405020304" pitchFamily="18" charset="0"/>
            </a:endParaRPr>
          </a:p>
          <a:p>
            <a:pPr marL="0" indent="0">
              <a:buNone/>
            </a:pPr>
            <a:r>
              <a:rPr lang="en-US" b="1" dirty="0">
                <a:latin typeface="Times" panose="02020603050405020304" pitchFamily="18" charset="0"/>
                <a:cs typeface="Times" panose="02020603050405020304" pitchFamily="18" charset="0"/>
              </a:rPr>
              <a:t>Final Tuned Model Results</a:t>
            </a:r>
            <a:endParaRPr lang="en-US" dirty="0">
              <a:latin typeface="Times" panose="02020603050405020304" pitchFamily="18" charset="0"/>
              <a:cs typeface="Times" panose="02020603050405020304" pitchFamily="18" charset="0"/>
            </a:endParaRPr>
          </a:p>
          <a:p>
            <a:r>
              <a:rPr lang="en-US" b="1" dirty="0">
                <a:latin typeface="Times" panose="02020603050405020304" pitchFamily="18" charset="0"/>
                <a:cs typeface="Times" panose="02020603050405020304" pitchFamily="18" charset="0"/>
              </a:rPr>
              <a:t>Tuned Random Forest model achieved:</a:t>
            </a:r>
            <a:endParaRPr lang="en-US" dirty="0">
              <a:latin typeface="Times" panose="02020603050405020304" pitchFamily="18" charset="0"/>
              <a:cs typeface="Times" panose="02020603050405020304" pitchFamily="18" charset="0"/>
            </a:endParaRPr>
          </a:p>
          <a:p>
            <a:pPr marL="457200" lvl="1" indent="0">
              <a:buNone/>
            </a:pPr>
            <a:r>
              <a:rPr lang="en-US" dirty="0">
                <a:latin typeface="Times" panose="02020603050405020304" pitchFamily="18" charset="0"/>
                <a:cs typeface="Times" panose="02020603050405020304" pitchFamily="18" charset="0"/>
              </a:rPr>
              <a:t>Accuracy: 0.62</a:t>
            </a:r>
          </a:p>
          <a:p>
            <a:pPr marL="457200" lvl="1" indent="0">
              <a:buNone/>
            </a:pPr>
            <a:r>
              <a:rPr lang="en-US" dirty="0">
                <a:latin typeface="Times" panose="02020603050405020304" pitchFamily="18" charset="0"/>
                <a:cs typeface="Times" panose="02020603050405020304" pitchFamily="18" charset="0"/>
              </a:rPr>
              <a:t>Precision: 0.79, Recall: 0.71, F1 Score: 75</a:t>
            </a:r>
          </a:p>
          <a:p>
            <a:r>
              <a:rPr lang="en-US" dirty="0">
                <a:latin typeface="Times" panose="02020603050405020304" pitchFamily="18" charset="0"/>
                <a:cs typeface="Times" panose="02020603050405020304" pitchFamily="18" charset="0"/>
              </a:rPr>
              <a:t>Metrics confirm </a:t>
            </a:r>
            <a:r>
              <a:rPr lang="en-US" b="1" dirty="0">
                <a:latin typeface="Times" panose="02020603050405020304" pitchFamily="18" charset="0"/>
                <a:cs typeface="Times" panose="02020603050405020304" pitchFamily="18" charset="0"/>
              </a:rPr>
              <a:t>high predictive accuracy, strong sensitivity to detecting heart disease</a:t>
            </a:r>
            <a:r>
              <a:rPr lang="en-US" dirty="0">
                <a:latin typeface="Times" panose="02020603050405020304" pitchFamily="18" charset="0"/>
                <a:cs typeface="Times" panose="02020603050405020304" pitchFamily="18" charset="0"/>
              </a:rPr>
              <a:t>, and robustness across patient demographics.</a:t>
            </a:r>
          </a:p>
        </p:txBody>
      </p:sp>
    </p:spTree>
    <p:extLst>
      <p:ext uri="{BB962C8B-B14F-4D97-AF65-F5344CB8AC3E}">
        <p14:creationId xmlns:p14="http://schemas.microsoft.com/office/powerpoint/2010/main" val="4173587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5D0B-764B-126A-6C7D-163BD9D2C07A}"/>
              </a:ext>
            </a:extLst>
          </p:cNvPr>
          <p:cNvSpPr>
            <a:spLocks noGrp="1"/>
          </p:cNvSpPr>
          <p:nvPr>
            <p:ph type="title"/>
          </p:nvPr>
        </p:nvSpPr>
        <p:spPr>
          <a:xfrm>
            <a:off x="393700" y="352425"/>
            <a:ext cx="10515600" cy="1325563"/>
          </a:xfrm>
        </p:spPr>
        <p:txBody>
          <a:bodyPr>
            <a:normAutofit fontScale="90000"/>
          </a:bodyPr>
          <a:lstStyle/>
          <a:p>
            <a:r>
              <a:rPr lang="en-US" b="1" dirty="0">
                <a:latin typeface="Times" panose="02020603050405020304" pitchFamily="18" charset="0"/>
                <a:cs typeface="Times" panose="02020603050405020304" pitchFamily="18" charset="0"/>
              </a:rPr>
              <a:t>Conclusion - Heart Disease Prediction Project</a:t>
            </a:r>
            <a:br>
              <a:rPr lang="en-US" b="1" dirty="0">
                <a:latin typeface="Times" panose="02020603050405020304" pitchFamily="18" charset="0"/>
                <a:cs typeface="Times" panose="02020603050405020304" pitchFamily="18" charset="0"/>
              </a:rPr>
            </a:br>
            <a:br>
              <a:rPr lang="en-US" b="1" dirty="0">
                <a:latin typeface="Times" panose="02020603050405020304" pitchFamily="18" charset="0"/>
                <a:cs typeface="Times" panose="02020603050405020304" pitchFamily="18" charset="0"/>
              </a:rPr>
            </a:br>
            <a:endParaRPr lang="en-IN" dirty="0">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23B843A7-75F2-42D2-5692-FDDE210F6B91}"/>
              </a:ext>
            </a:extLst>
          </p:cNvPr>
          <p:cNvSpPr>
            <a:spLocks noGrp="1"/>
          </p:cNvSpPr>
          <p:nvPr>
            <p:ph idx="1"/>
          </p:nvPr>
        </p:nvSpPr>
        <p:spPr>
          <a:xfrm>
            <a:off x="342900" y="1449387"/>
            <a:ext cx="11506200" cy="5056188"/>
          </a:xfrm>
        </p:spPr>
        <p:txBody>
          <a:bodyPr>
            <a:normAutofit/>
          </a:bodyPr>
          <a:lstStyle/>
          <a:p>
            <a:r>
              <a:rPr lang="en-US" sz="2400" dirty="0">
                <a:latin typeface="Times" panose="02020603050405020304" pitchFamily="18" charset="0"/>
                <a:cs typeface="Times" panose="02020603050405020304" pitchFamily="18" charset="0"/>
              </a:rPr>
              <a:t>The project successfully developed a </a:t>
            </a:r>
            <a:r>
              <a:rPr lang="en-US" sz="2400" b="1" dirty="0">
                <a:latin typeface="Times" panose="02020603050405020304" pitchFamily="18" charset="0"/>
                <a:cs typeface="Times" panose="02020603050405020304" pitchFamily="18" charset="0"/>
              </a:rPr>
              <a:t>robust and accurate predictive model</a:t>
            </a:r>
            <a:r>
              <a:rPr lang="en-US" sz="2400" dirty="0">
                <a:latin typeface="Times" panose="02020603050405020304" pitchFamily="18" charset="0"/>
                <a:cs typeface="Times" panose="02020603050405020304" pitchFamily="18" charset="0"/>
              </a:rPr>
              <a:t> for heart disease risk estimation.</a:t>
            </a:r>
          </a:p>
          <a:p>
            <a:r>
              <a:rPr lang="en-US" sz="2400" dirty="0">
                <a:latin typeface="Times" panose="02020603050405020304" pitchFamily="18" charset="0"/>
                <a:cs typeface="Times" panose="02020603050405020304" pitchFamily="18" charset="0"/>
              </a:rPr>
              <a:t>Systematic steps including </a:t>
            </a:r>
            <a:r>
              <a:rPr lang="en-US" sz="2400" b="1" dirty="0">
                <a:latin typeface="Times" panose="02020603050405020304" pitchFamily="18" charset="0"/>
                <a:cs typeface="Times" panose="02020603050405020304" pitchFamily="18" charset="0"/>
              </a:rPr>
              <a:t>EDA, encoding, feature engineering, scaling, model training, evaluation, and hyperparameter tuning</a:t>
            </a:r>
            <a:r>
              <a:rPr lang="en-US" sz="2400" dirty="0">
                <a:latin typeface="Times" panose="02020603050405020304" pitchFamily="18" charset="0"/>
                <a:cs typeface="Times" panose="02020603050405020304" pitchFamily="18" charset="0"/>
              </a:rPr>
              <a:t> produced a high-performing final model.</a:t>
            </a:r>
          </a:p>
          <a:p>
            <a:r>
              <a:rPr lang="en-US" sz="2400" dirty="0">
                <a:latin typeface="Times" panose="02020603050405020304" pitchFamily="18" charset="0"/>
                <a:cs typeface="Times" panose="02020603050405020304" pitchFamily="18" charset="0"/>
              </a:rPr>
              <a:t>The optimized </a:t>
            </a:r>
            <a:r>
              <a:rPr lang="en-US" sz="2400" b="1" dirty="0">
                <a:latin typeface="Times" panose="02020603050405020304" pitchFamily="18" charset="0"/>
                <a:cs typeface="Times" panose="02020603050405020304" pitchFamily="18" charset="0"/>
              </a:rPr>
              <a:t>KNN/ Random Forest model</a:t>
            </a:r>
            <a:r>
              <a:rPr lang="en-US" sz="2400" dirty="0">
                <a:latin typeface="Times" panose="02020603050405020304" pitchFamily="18" charset="0"/>
                <a:cs typeface="Times" panose="02020603050405020304" pitchFamily="18" charset="0"/>
              </a:rPr>
              <a:t> effectively captures complex, non-linear interactions among patient risk factors, providing reliable predictions.</a:t>
            </a:r>
          </a:p>
          <a:p>
            <a:r>
              <a:rPr lang="en-US" sz="2400" b="1" dirty="0">
                <a:latin typeface="Times" panose="02020603050405020304" pitchFamily="18" charset="0"/>
                <a:cs typeface="Times" panose="02020603050405020304" pitchFamily="18" charset="0"/>
              </a:rPr>
              <a:t>This model provides a strong foundation for:</a:t>
            </a:r>
            <a:endParaRPr lang="en-US" sz="2400" dirty="0">
              <a:latin typeface="Times" panose="02020603050405020304" pitchFamily="18" charset="0"/>
              <a:cs typeface="Times" panose="02020603050405020304" pitchFamily="18" charset="0"/>
            </a:endParaRPr>
          </a:p>
          <a:p>
            <a:r>
              <a:rPr lang="en-US" sz="2400" dirty="0">
                <a:latin typeface="Times" panose="02020603050405020304" pitchFamily="18" charset="0"/>
                <a:cs typeface="Times" panose="02020603050405020304" pitchFamily="18" charset="0"/>
              </a:rPr>
              <a:t>Clinical decision support for cardiologists and primary care physicians</a:t>
            </a:r>
          </a:p>
          <a:p>
            <a:r>
              <a:rPr lang="en-US" sz="2400" dirty="0">
                <a:latin typeface="Times" panose="02020603050405020304" pitchFamily="18" charset="0"/>
                <a:cs typeface="Times" panose="02020603050405020304" pitchFamily="18" charset="0"/>
              </a:rPr>
              <a:t>Early detection and risk stratification of patients</a:t>
            </a:r>
          </a:p>
          <a:p>
            <a:r>
              <a:rPr lang="en-US" sz="2400" dirty="0">
                <a:latin typeface="Times" panose="02020603050405020304" pitchFamily="18" charset="0"/>
                <a:cs typeface="Times" panose="02020603050405020304" pitchFamily="18" charset="0"/>
              </a:rPr>
              <a:t>Development of automated patient screening or diagnostic tools</a:t>
            </a:r>
          </a:p>
          <a:p>
            <a:r>
              <a:rPr lang="en-US" sz="2400" dirty="0">
                <a:latin typeface="Times" panose="02020603050405020304" pitchFamily="18" charset="0"/>
                <a:cs typeface="Times" panose="02020603050405020304" pitchFamily="18" charset="0"/>
              </a:rPr>
              <a:t>Personalized preventive strategies and lifestyle recommendations</a:t>
            </a:r>
          </a:p>
          <a:p>
            <a:endParaRPr lang="en-IN"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776127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1370</Words>
  <Application>Microsoft Office PowerPoint</Application>
  <PresentationFormat>Widescreen</PresentationFormat>
  <Paragraphs>174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vt:lpstr>
      <vt:lpstr>Times New Roman</vt:lpstr>
      <vt:lpstr>Office Theme</vt:lpstr>
      <vt:lpstr>Heart Disease using  ML Models </vt:lpstr>
      <vt:lpstr>Abstract </vt:lpstr>
      <vt:lpstr>Need for Project </vt:lpstr>
      <vt:lpstr>Proposed System </vt:lpstr>
      <vt:lpstr>Snapshot of Data </vt:lpstr>
      <vt:lpstr>Dataset Description </vt:lpstr>
      <vt:lpstr>Pipeline </vt:lpstr>
      <vt:lpstr>Data Cleaning and Pre-processing </vt:lpstr>
      <vt:lpstr>Data Cleaning and Pre-processing </vt:lpstr>
      <vt:lpstr>Data Visualization and EDA (Exploratory data Analysis)</vt:lpstr>
      <vt:lpstr>PowerPoint Presentation</vt:lpstr>
      <vt:lpstr>Data Visualization</vt:lpstr>
      <vt:lpstr>PowerPoint Presentation</vt:lpstr>
      <vt:lpstr>PowerPoint Presentation</vt:lpstr>
      <vt:lpstr>PowerPoint Presentation</vt:lpstr>
      <vt:lpstr>PowerPoint Presentation</vt:lpstr>
      <vt:lpstr>PowerPoint Presentation</vt:lpstr>
      <vt:lpstr>Dummy or indicator features for categorical variables </vt:lpstr>
      <vt:lpstr>Feature Engineering </vt:lpstr>
      <vt:lpstr>Machine Learning Algorithm </vt:lpstr>
      <vt:lpstr>Handling Class Imbalance using SMOTENC </vt:lpstr>
      <vt:lpstr>Feature Importance from Random Forest </vt:lpstr>
      <vt:lpstr>PowerPoint Presentation</vt:lpstr>
      <vt:lpstr>PowerPoint Presentation</vt:lpstr>
      <vt:lpstr>PowerPoint Presentation</vt:lpstr>
      <vt:lpstr>Key Findings from the Project </vt:lpstr>
      <vt:lpstr>Conclusion - Heart Disease Prediction 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suniksha gupta</dc:creator>
  <cp:lastModifiedBy>suniksha gupta</cp:lastModifiedBy>
  <cp:revision>3</cp:revision>
  <dcterms:created xsi:type="dcterms:W3CDTF">2025-11-25T23:36:30Z</dcterms:created>
  <dcterms:modified xsi:type="dcterms:W3CDTF">2026-03-05T19:45:45Z</dcterms:modified>
</cp:coreProperties>
</file>